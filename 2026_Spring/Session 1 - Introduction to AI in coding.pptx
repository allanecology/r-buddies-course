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6" r:id="rId3"/>
    <p:sldId id="269" r:id="rId4"/>
    <p:sldId id="258" r:id="rId5"/>
    <p:sldId id="259" r:id="rId6"/>
    <p:sldId id="264" r:id="rId7"/>
    <p:sldId id="270" r:id="rId8"/>
    <p:sldId id="260" r:id="rId9"/>
    <p:sldId id="271" r:id="rId10"/>
    <p:sldId id="272" r:id="rId11"/>
    <p:sldId id="273" r:id="rId12"/>
    <p:sldId id="262" r:id="rId13"/>
    <p:sldId id="266" r:id="rId14"/>
    <p:sldId id="265" r:id="rId15"/>
    <p:sldId id="261" r:id="rId16"/>
    <p:sldId id="267" r:id="rId17"/>
    <p:sldId id="268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0B08"/>
    <a:srgbClr val="9B0C09"/>
    <a:srgbClr val="C40F0B"/>
    <a:srgbClr val="FFFFFF"/>
    <a:srgbClr val="26A22C"/>
    <a:srgbClr val="62DA68"/>
    <a:srgbClr val="FEFCB8"/>
    <a:srgbClr val="FDFA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1AE3C-EC5C-447C-ADB0-1399520905FD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F9F1C-18AA-4CC4-B176-83925A0CE1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502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9F1C-18AA-4CC4-B176-83925A0CE1C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593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9F1C-18AA-4CC4-B176-83925A0CE1C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7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9F1C-18AA-4CC4-B176-83925A0CE1C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917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9733-F4E9-0F5D-71A7-6DE577DDF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D2754-75E4-E8C1-8FDF-62BB962A4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4A315-B58E-1B86-61C9-B91DFEC32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14C0E-3150-4A97-8CFA-A0E81D48049D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90687-E81C-8922-A147-003ED07B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DE136-5DFC-8D17-F466-D6D5D89F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93C6-5AB9-4E06-B5B8-4D463AF5FE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871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7C6FA-16FA-AC6F-1E2F-169234DA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D9CE4-5352-E0FD-1B38-619BB1233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4B4BD-65D8-3FDC-DE68-71BEF395C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14C0E-3150-4A97-8CFA-A0E81D48049D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9EC47-25DD-294D-B09F-AC116F65E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84C33-6419-EE22-3953-39263FD15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93C6-5AB9-4E06-B5B8-4D463AF5FE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007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47A43-1C97-4113-F819-3CA74419C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A9B37-0848-ACCF-1554-4A5ED5EA4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FBCC8-7435-5DAF-6A89-17E4F8FFC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14C0E-3150-4A97-8CFA-A0E81D48049D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985F6-0098-4D45-7343-C8BF4DA0D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3E76C-1F8C-B7A6-8A19-9BC07034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93C6-5AB9-4E06-B5B8-4D463AF5FE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09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DD46-1141-36DA-2B34-63893AAD2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055FA-8252-5650-76A7-BFAAE03A16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7F5D7-2928-F934-F35E-ADBC9EE42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DE2CB-83FB-D0C2-E6C5-0503FE09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14C0E-3150-4A97-8CFA-A0E81D48049D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CB8F2-36C8-2C5D-C6A6-6031520C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A7B0C-1716-3549-111B-52B33767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93C6-5AB9-4E06-B5B8-4D463AF5FE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319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219B7-DABD-91E4-E916-15E959C18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026A0-AE2B-209A-B9AA-D8F45A679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C836B-E138-21B0-FF76-54C994ABB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EC326-C17F-FA13-2D43-091DCBA6E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CC57D1-20F9-9E70-07A7-1364BE30D2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0A5BF6-FDAA-5D5D-8C7A-4C955079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14C0E-3150-4A97-8CFA-A0E81D48049D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EA9CC-7D69-CF91-26BC-79F6533E5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B6E49-2CED-B718-7589-66C7C932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93C6-5AB9-4E06-B5B8-4D463AF5FE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479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DBDE2-4C6D-E26D-00CF-7F35613CD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4D9E2-6BE4-3F0A-89FC-2773FEE2E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14C0E-3150-4A97-8CFA-A0E81D48049D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B988F-A29F-A21B-7F97-80D47B209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23362-1845-CBEF-2B3C-303EF023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93C6-5AB9-4E06-B5B8-4D463AF5FE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254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6CE81-2A75-465E-DDDE-555C222B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14C0E-3150-4A97-8CFA-A0E81D48049D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BE9102-D11F-627E-5784-9B988B65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513E8-64D6-2D9C-C469-2DFB0ADB6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93C6-5AB9-4E06-B5B8-4D463AF5FE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989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C2589-4AD1-BBFF-C8B3-944E79CAB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3D561-A64F-CB68-D8B7-A4969E4F6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D2F29-03B7-13C1-E6F0-07876BA72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A41D3-6652-EE4B-EA1E-220A65318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14C0E-3150-4A97-8CFA-A0E81D48049D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5FEA4-42EC-A352-F93E-354CEB9A3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8719D-7C30-E82F-F010-110A93A9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93C6-5AB9-4E06-B5B8-4D463AF5FE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9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E9026-3173-0C87-8CD7-E897840AE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55AEC4-5A13-9BF2-36E6-EC99C2A6A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D43F3-B321-A602-F1F0-E0E75BFCC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1EF17-2C7C-DDC7-E6BF-0B7D73AA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14C0E-3150-4A97-8CFA-A0E81D48049D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6FFAC-00FA-2264-3A1E-1168602B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61197-DE08-AFB3-1468-44D3EBD2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93C6-5AB9-4E06-B5B8-4D463AF5FE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24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300C-BB43-76ED-6931-0865C5893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0C18A-D5F8-F507-19A9-B209BF7FF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CD5B4-0ED7-B5FF-64DA-166412D50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14C0E-3150-4A97-8CFA-A0E81D48049D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C4B7F-3BD7-88B6-89B9-2986B75A3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C29FD-5001-E9BA-2EEC-F9B5EEDC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93C6-5AB9-4E06-B5B8-4D463AF5FE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212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8AAA9-789B-0394-8796-77DD39340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B6AA0-D4E7-4398-7C70-BD30D869C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33EAB-2607-E18F-58ED-5CF5279F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14C0E-3150-4A97-8CFA-A0E81D48049D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F6813-9E2D-0AF5-B33A-FAF24CA55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68205-E646-D5BE-3C96-0907022D3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193C6-5AB9-4E06-B5B8-4D463AF5FE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99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3635A-DDBA-AFB1-0EE1-21B328C07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F7AE8-B053-0FAF-FEE9-A453696D2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B97DF-BDB2-75E5-0BDC-ABD1A5A2A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814C0E-3150-4A97-8CFA-A0E81D48049D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60811-E691-0D0C-3642-E3F88DB1C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804FC-3449-2FE7-DD52-603D86B63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193C6-5AB9-4E06-B5B8-4D463AF5FE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707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5C4B2-2EC1-37F9-A39A-77D7DD453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A005A5-D2E0-944C-8B78-4968017B9EE3}"/>
              </a:ext>
            </a:extLst>
          </p:cNvPr>
          <p:cNvSpPr/>
          <p:nvPr/>
        </p:nvSpPr>
        <p:spPr>
          <a:xfrm>
            <a:off x="307249" y="609606"/>
            <a:ext cx="11520332" cy="57032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19" dirty="0"/>
          </a:p>
        </p:txBody>
      </p:sp>
      <p:pic>
        <p:nvPicPr>
          <p:cNvPr id="3" name="Picture 2" descr="Laptop Pusheen">
            <a:extLst>
              <a:ext uri="{FF2B5EF4-FFF2-40B4-BE49-F238E27FC236}">
                <a16:creationId xmlns:a16="http://schemas.microsoft.com/office/drawing/2014/main" id="{D9284574-4E9F-1BA1-13F2-FC30F64CB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930" y="4483939"/>
            <a:ext cx="3107510" cy="31075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EF2E7B-49FA-CAC1-8E5D-BF5A1E60A722}"/>
              </a:ext>
            </a:extLst>
          </p:cNvPr>
          <p:cNvSpPr txBox="1"/>
          <p:nvPr/>
        </p:nvSpPr>
        <p:spPr>
          <a:xfrm>
            <a:off x="841038" y="4129309"/>
            <a:ext cx="29003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Georgia Pro Semibold" panose="02040702050405020303" pitchFamily="18" charset="0"/>
              </a:rPr>
              <a:t>R </a:t>
            </a:r>
          </a:p>
          <a:p>
            <a:r>
              <a:rPr lang="en-GB" sz="3600" dirty="0">
                <a:latin typeface="Georgia Pro Semibold" panose="02040702050405020303" pitchFamily="18" charset="0"/>
              </a:rPr>
              <a:t>Buddies</a:t>
            </a:r>
          </a:p>
          <a:p>
            <a:r>
              <a:rPr lang="en-GB" sz="3600" dirty="0">
                <a:latin typeface="Georgia Pro Semibold" panose="02040702050405020303" pitchFamily="18" charset="0"/>
              </a:rPr>
              <a:t>Club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7F2F6F-67DA-106A-42EB-3260CF2C9AC9}"/>
              </a:ext>
            </a:extLst>
          </p:cNvPr>
          <p:cNvGrpSpPr/>
          <p:nvPr/>
        </p:nvGrpSpPr>
        <p:grpSpPr>
          <a:xfrm>
            <a:off x="6273468" y="242505"/>
            <a:ext cx="5611283" cy="3186495"/>
            <a:chOff x="0" y="-283086"/>
            <a:chExt cx="6650727" cy="3589337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4653F2B-14AF-6AE3-CE20-2116321A3CDE}"/>
                </a:ext>
              </a:extLst>
            </p:cNvPr>
            <p:cNvCxnSpPr>
              <a:cxnSpLocks/>
            </p:cNvCxnSpPr>
            <p:nvPr/>
          </p:nvCxnSpPr>
          <p:spPr>
            <a:xfrm>
              <a:off x="3131540" y="268273"/>
              <a:ext cx="0" cy="2488212"/>
            </a:xfrm>
            <a:prstGeom prst="straightConnector1">
              <a:avLst/>
            </a:prstGeom>
            <a:ln w="57150"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7" name="Picture 4" descr="AI Tidal Wave cartoon">
              <a:extLst>
                <a:ext uri="{FF2B5EF4-FFF2-40B4-BE49-F238E27FC236}">
                  <a16:creationId xmlns:a16="http://schemas.microsoft.com/office/drawing/2014/main" id="{42A7A709-DADF-DEB5-2018-200058C04E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22"/>
            <a:stretch>
              <a:fillRect/>
            </a:stretch>
          </p:blipFill>
          <p:spPr bwMode="auto">
            <a:xfrm>
              <a:off x="0" y="-283086"/>
              <a:ext cx="6650727" cy="3589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EE61FB3-5624-08CB-848D-1D31F4746E2D}"/>
                </a:ext>
              </a:extLst>
            </p:cNvPr>
            <p:cNvSpPr/>
            <p:nvPr/>
          </p:nvSpPr>
          <p:spPr>
            <a:xfrm>
              <a:off x="4754032" y="236562"/>
              <a:ext cx="783168" cy="1825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DC7A82-0460-756D-A2B0-E73B261D1624}"/>
                </a:ext>
              </a:extLst>
            </p:cNvPr>
            <p:cNvSpPr txBox="1"/>
            <p:nvPr/>
          </p:nvSpPr>
          <p:spPr>
            <a:xfrm>
              <a:off x="4524222" y="180081"/>
              <a:ext cx="1180205" cy="343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>
                  <a:latin typeface="Kristen ITC" panose="03050502040202030202" pitchFamily="66" charset="0"/>
                </a:rPr>
                <a:t>coding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FDBE78-0409-A46D-7148-99CFD647EFCD}"/>
                </a:ext>
              </a:extLst>
            </p:cNvPr>
            <p:cNvSpPr/>
            <p:nvPr/>
          </p:nvSpPr>
          <p:spPr>
            <a:xfrm>
              <a:off x="231245" y="649077"/>
              <a:ext cx="1019693" cy="2844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17BC49-29A5-E0C0-781D-DD7E825593B3}"/>
                </a:ext>
              </a:extLst>
            </p:cNvPr>
            <p:cNvSpPr txBox="1"/>
            <p:nvPr/>
          </p:nvSpPr>
          <p:spPr>
            <a:xfrm>
              <a:off x="176484" y="637409"/>
              <a:ext cx="1263030" cy="312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>
                  <a:latin typeface="Kristen ITC" panose="03050502040202030202" pitchFamily="66" charset="0"/>
                </a:rPr>
                <a:t>CODING</a:t>
              </a: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3E4D13-C4BB-F1E9-2A08-77E11435FC0D}"/>
              </a:ext>
            </a:extLst>
          </p:cNvPr>
          <p:cNvCxnSpPr>
            <a:cxnSpLocks/>
          </p:cNvCxnSpPr>
          <p:nvPr/>
        </p:nvCxnSpPr>
        <p:spPr>
          <a:xfrm>
            <a:off x="3875005" y="3522445"/>
            <a:ext cx="0" cy="2488212"/>
          </a:xfrm>
          <a:prstGeom prst="straightConnector1">
            <a:avLst/>
          </a:prstGeom>
          <a:ln w="57150"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767BAB-5D35-1F98-BFB2-13EE20755179}"/>
              </a:ext>
            </a:extLst>
          </p:cNvPr>
          <p:cNvGrpSpPr/>
          <p:nvPr/>
        </p:nvGrpSpPr>
        <p:grpSpPr>
          <a:xfrm>
            <a:off x="1240091" y="1889130"/>
            <a:ext cx="2501248" cy="2258467"/>
            <a:chOff x="2055005" y="237786"/>
            <a:chExt cx="4445422" cy="350945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6E7BBC7-6E66-8DBE-D4BB-C12688147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422" t="18107" r="19524" b="2101"/>
            <a:stretch>
              <a:fillRect/>
            </a:stretch>
          </p:blipFill>
          <p:spPr>
            <a:xfrm rot="21056047">
              <a:off x="2274455" y="755707"/>
              <a:ext cx="2309090" cy="1269145"/>
            </a:xfrm>
            <a:prstGeom prst="rect">
              <a:avLst/>
            </a:prstGeom>
          </p:spPr>
        </p:pic>
        <p:pic>
          <p:nvPicPr>
            <p:cNvPr id="15" name="Picture 14" descr="Free laptop computer, Download Free laptop computer png images, Free ...">
              <a:extLst>
                <a:ext uri="{FF2B5EF4-FFF2-40B4-BE49-F238E27FC236}">
                  <a16:creationId xmlns:a16="http://schemas.microsoft.com/office/drawing/2014/main" id="{6E565A4F-22C5-D76E-A9EB-FE5274B0C9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  <a14:imgEffect>
                        <a14:sharpenSoften amount="50000"/>
                      </a14:imgEffect>
                      <a14:imgEffect>
                        <a14:colorTemperature colorTemp="4700"/>
                      </a14:imgEffect>
                      <a14:imgEffect>
                        <a14:saturation sat="0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15" t="19966" r="6958" b="16304"/>
            <a:stretch>
              <a:fillRect/>
            </a:stretch>
          </p:blipFill>
          <p:spPr bwMode="auto">
            <a:xfrm>
              <a:off x="2055005" y="237786"/>
              <a:ext cx="4445422" cy="3509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76EBE9D-7A05-C5CB-5EFF-F72DB772495E}"/>
              </a:ext>
            </a:extLst>
          </p:cNvPr>
          <p:cNvSpPr txBox="1"/>
          <p:nvPr/>
        </p:nvSpPr>
        <p:spPr>
          <a:xfrm>
            <a:off x="4410580" y="3813965"/>
            <a:ext cx="5572014" cy="1963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i="1" dirty="0">
                <a:latin typeface="Grandview Display" panose="020B0502040204020203" pitchFamily="34" charset="0"/>
                <a:ea typeface="Microsoft JhengHei UI Light" panose="020B0304030504040204" pitchFamily="34" charset="-120"/>
              </a:rPr>
              <a:t>Session 1:</a:t>
            </a:r>
          </a:p>
          <a:p>
            <a:pPr algn="ctr"/>
            <a:r>
              <a:rPr lang="en-GB" sz="2800" b="1" dirty="0">
                <a:latin typeface="Grandview" panose="020B0502040204020203" pitchFamily="34" charset="0"/>
                <a:ea typeface="Microsoft JhengHei UI Light" panose="020B0304030504040204" pitchFamily="34" charset="-120"/>
              </a:rPr>
              <a:t>~ Introduction to coding with AI ~</a:t>
            </a:r>
          </a:p>
          <a:p>
            <a:pPr algn="ctr"/>
            <a:r>
              <a:rPr lang="en-GB" sz="1919" dirty="0">
                <a:latin typeface="Grandview Display" panose="020B0502040204020203" pitchFamily="34" charset="0"/>
                <a:ea typeface="Microsoft JhengHei UI Light" panose="020B0304030504040204" pitchFamily="34" charset="-120"/>
              </a:rPr>
              <a:t>By</a:t>
            </a:r>
          </a:p>
          <a:p>
            <a:pPr algn="ctr"/>
            <a:r>
              <a:rPr lang="en-GB" sz="1919" dirty="0">
                <a:latin typeface="Grandview Display" panose="020B0502040204020203" pitchFamily="34" charset="0"/>
                <a:ea typeface="Microsoft JhengHei UI Light" panose="020B0304030504040204" pitchFamily="34" charset="-120"/>
              </a:rPr>
              <a:t>Caroline Daniel,</a:t>
            </a:r>
          </a:p>
          <a:p>
            <a:pPr algn="ctr"/>
            <a:r>
              <a:rPr lang="en-GB" sz="1919" dirty="0">
                <a:latin typeface="Grandview Display" panose="020B0502040204020203" pitchFamily="34" charset="0"/>
                <a:ea typeface="Microsoft JhengHei UI Light" panose="020B0304030504040204" pitchFamily="34" charset="-120"/>
              </a:rPr>
              <a:t>Postdoc at the IEE </a:t>
            </a:r>
          </a:p>
          <a:p>
            <a:pPr algn="ctr"/>
            <a:endParaRPr lang="en-GB" sz="800" i="1" dirty="0">
              <a:latin typeface="Grandview Display" panose="020B0502040204020203" pitchFamily="34" charset="0"/>
              <a:ea typeface="Microsoft JhengHei UI Light" panose="020B0304030504040204" pitchFamily="34" charset="-12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1B20FB-E785-A614-91D7-4A13B0D10D67}"/>
              </a:ext>
            </a:extLst>
          </p:cNvPr>
          <p:cNvSpPr txBox="1"/>
          <p:nvPr/>
        </p:nvSpPr>
        <p:spPr>
          <a:xfrm>
            <a:off x="364419" y="1112757"/>
            <a:ext cx="5499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odern Love" panose="04090805081005020601" pitchFamily="82" charset="0"/>
              </a:rPr>
              <a:t>Welcome to the…</a:t>
            </a:r>
          </a:p>
        </p:txBody>
      </p:sp>
    </p:spTree>
    <p:extLst>
      <p:ext uri="{BB962C8B-B14F-4D97-AF65-F5344CB8AC3E}">
        <p14:creationId xmlns:p14="http://schemas.microsoft.com/office/powerpoint/2010/main" val="394423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9A5042-67C0-77AE-85B9-26D318FAE63F}"/>
              </a:ext>
            </a:extLst>
          </p:cNvPr>
          <p:cNvSpPr txBox="1"/>
          <p:nvPr/>
        </p:nvSpPr>
        <p:spPr>
          <a:xfrm>
            <a:off x="484414" y="3023210"/>
            <a:ext cx="1932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Asking AI for cookies recipe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E00822-CCC2-96F2-40FE-D611CA4330A1}"/>
              </a:ext>
            </a:extLst>
          </p:cNvPr>
          <p:cNvSpPr txBox="1"/>
          <p:nvPr/>
        </p:nvSpPr>
        <p:spPr>
          <a:xfrm>
            <a:off x="9182099" y="3023210"/>
            <a:ext cx="248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Asking AI for major life-changing decisions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53EC53-5C88-30E0-576D-DB1E638ADBEE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The spectrum of AI usage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EF73ED-89A5-D916-4EDA-D81216A5FD47}"/>
              </a:ext>
            </a:extLst>
          </p:cNvPr>
          <p:cNvSpPr/>
          <p:nvPr/>
        </p:nvSpPr>
        <p:spPr>
          <a:xfrm>
            <a:off x="527958" y="2569030"/>
            <a:ext cx="11136084" cy="400110"/>
          </a:xfrm>
          <a:prstGeom prst="rect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49000">
                <a:srgbClr val="FEFCB8"/>
              </a:gs>
              <a:gs pos="0">
                <a:srgbClr val="C00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Graphic 9" descr="Flag with solid fill">
            <a:extLst>
              <a:ext uri="{FF2B5EF4-FFF2-40B4-BE49-F238E27FC236}">
                <a16:creationId xmlns:a16="http://schemas.microsoft.com/office/drawing/2014/main" id="{575AB448-24F8-0C68-A982-8D5FCD9BB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493" y="1946687"/>
            <a:ext cx="914400" cy="914400"/>
          </a:xfrm>
          <a:prstGeom prst="rect">
            <a:avLst/>
          </a:prstGeom>
        </p:spPr>
      </p:pic>
      <p:pic>
        <p:nvPicPr>
          <p:cNvPr id="11" name="Graphic 10" descr="Flag with solid fill">
            <a:extLst>
              <a:ext uri="{FF2B5EF4-FFF2-40B4-BE49-F238E27FC236}">
                <a16:creationId xmlns:a16="http://schemas.microsoft.com/office/drawing/2014/main" id="{B547B935-0A46-8541-E623-775CFFE6C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9642" y="194668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08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D3C07-A1D7-7A63-D6E1-FFA901A87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58078E-D904-2F3B-F721-71FFF4A2BB4F}"/>
              </a:ext>
            </a:extLst>
          </p:cNvPr>
          <p:cNvSpPr txBox="1"/>
          <p:nvPr/>
        </p:nvSpPr>
        <p:spPr>
          <a:xfrm>
            <a:off x="786493" y="4412124"/>
            <a:ext cx="10619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GB" dirty="0"/>
              <a:t>How long has it been since you took an important decision without asking an LLM about it?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E1116-0451-4DE6-842A-C265CBBE48B0}"/>
              </a:ext>
            </a:extLst>
          </p:cNvPr>
          <p:cNvSpPr txBox="1"/>
          <p:nvPr/>
        </p:nvSpPr>
        <p:spPr>
          <a:xfrm>
            <a:off x="484414" y="3023210"/>
            <a:ext cx="1932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Asking AI for cookies recipe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D9D39B-3CA6-0B17-6F5D-DDE9D0EA225B}"/>
              </a:ext>
            </a:extLst>
          </p:cNvPr>
          <p:cNvSpPr txBox="1"/>
          <p:nvPr/>
        </p:nvSpPr>
        <p:spPr>
          <a:xfrm>
            <a:off x="9182099" y="3023210"/>
            <a:ext cx="248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Asking AI for major life-changing decisions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05CA2-FDAE-0F9F-F4BF-BE00EB1D915B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The spectrum of AI usage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654A2B-C853-42B1-CFFE-680B6FE9C4DE}"/>
              </a:ext>
            </a:extLst>
          </p:cNvPr>
          <p:cNvSpPr/>
          <p:nvPr/>
        </p:nvSpPr>
        <p:spPr>
          <a:xfrm>
            <a:off x="527958" y="2569030"/>
            <a:ext cx="11136084" cy="400110"/>
          </a:xfrm>
          <a:prstGeom prst="rect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49000">
                <a:srgbClr val="FEFCB8"/>
              </a:gs>
              <a:gs pos="0">
                <a:srgbClr val="C000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Graphic 9" descr="Flag with solid fill">
            <a:extLst>
              <a:ext uri="{FF2B5EF4-FFF2-40B4-BE49-F238E27FC236}">
                <a16:creationId xmlns:a16="http://schemas.microsoft.com/office/drawing/2014/main" id="{8F294CEA-F907-9342-ECF6-1255A90E2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493" y="1946687"/>
            <a:ext cx="914400" cy="914400"/>
          </a:xfrm>
          <a:prstGeom prst="rect">
            <a:avLst/>
          </a:prstGeom>
        </p:spPr>
      </p:pic>
      <p:pic>
        <p:nvPicPr>
          <p:cNvPr id="11" name="Graphic 10" descr="Flag with solid fill">
            <a:extLst>
              <a:ext uri="{FF2B5EF4-FFF2-40B4-BE49-F238E27FC236}">
                <a16:creationId xmlns:a16="http://schemas.microsoft.com/office/drawing/2014/main" id="{A06486FF-F8AB-FAB1-AD69-7800546D5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9642" y="194668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90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AF8A6-1CEC-E5CC-0144-B3485E9C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CD4BD-27AB-D2B7-C2F5-00218E468E2A}"/>
              </a:ext>
            </a:extLst>
          </p:cNvPr>
          <p:cNvSpPr txBox="1"/>
          <p:nvPr/>
        </p:nvSpPr>
        <p:spPr>
          <a:xfrm>
            <a:off x="370115" y="976194"/>
            <a:ext cx="10395856" cy="420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What’s the cost of AI, what skills are going to be lost?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Is that so bad/different compared to the impact that other technologies have had in the past?</a:t>
            </a:r>
          </a:p>
          <a:p>
            <a:pPr>
              <a:lnSpc>
                <a:spcPct val="150000"/>
              </a:lnSpc>
            </a:pPr>
            <a:endParaRPr lang="en-GB" i="1" dirty="0"/>
          </a:p>
          <a:p>
            <a:pPr>
              <a:lnSpc>
                <a:spcPct val="150000"/>
              </a:lnSpc>
            </a:pPr>
            <a:endParaRPr lang="en-GB" i="1" dirty="0"/>
          </a:p>
          <a:p>
            <a:pPr>
              <a:lnSpc>
                <a:spcPct val="150000"/>
              </a:lnSpc>
            </a:pPr>
            <a:r>
              <a:rPr lang="en-GB" i="1" dirty="0"/>
              <a:t>What about…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Writing philosophy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Calculator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Wikipedia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67F14D-54BF-B8B7-35A9-C372651E4B3B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The disappearance of skills, are we becoming stupid?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0941115-0FE4-C9A4-66DD-13B39EE1FC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3"/>
          <a:stretch>
            <a:fillRect/>
          </a:stretch>
        </p:blipFill>
        <p:spPr bwMode="auto">
          <a:xfrm>
            <a:off x="8219974" y="2873827"/>
            <a:ext cx="3430194" cy="3539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028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3E127-DC28-7320-F5F8-DE2BF1C67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39EB16-E163-E691-D6E2-7032B350396C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The scientific evidence, how do we learn?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79BB7-3202-96F7-967B-51160530A874}"/>
              </a:ext>
            </a:extLst>
          </p:cNvPr>
          <p:cNvSpPr txBox="1"/>
          <p:nvPr/>
        </p:nvSpPr>
        <p:spPr>
          <a:xfrm>
            <a:off x="355825" y="610505"/>
            <a:ext cx="8392885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The three steps of learning: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dirty="0"/>
              <a:t>Collecting information (building new neural pathways)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dirty="0"/>
              <a:t>Practicing finding back the information (reinforcing neural pathways)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dirty="0"/>
              <a:t>Criticising the information found (meta-cognition, neural pathway of reward)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33206E-ACDB-3E81-EB8A-98E1142BE99D}"/>
              </a:ext>
            </a:extLst>
          </p:cNvPr>
          <p:cNvGrpSpPr/>
          <p:nvPr/>
        </p:nvGrpSpPr>
        <p:grpSpPr>
          <a:xfrm>
            <a:off x="936171" y="2912713"/>
            <a:ext cx="10384973" cy="3630380"/>
            <a:chOff x="555169" y="3141313"/>
            <a:chExt cx="10384973" cy="363038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457A791-20A1-DED9-D1C7-90DDF5CF04BA}"/>
                </a:ext>
              </a:extLst>
            </p:cNvPr>
            <p:cNvSpPr txBox="1"/>
            <p:nvPr/>
          </p:nvSpPr>
          <p:spPr>
            <a:xfrm>
              <a:off x="555169" y="3141313"/>
              <a:ext cx="10384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i="1" dirty="0"/>
                <a:t>Your Brain on ChatGPT: Accumulation of Cognitive Debt when using AI assistant for essay writing task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96320A8-561B-133C-8F59-ECFF08280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2756" y="3475166"/>
              <a:ext cx="9829801" cy="329652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9875A12-6655-66CF-27C2-C30D7F106DDE}"/>
              </a:ext>
            </a:extLst>
          </p:cNvPr>
          <p:cNvSpPr txBox="1"/>
          <p:nvPr/>
        </p:nvSpPr>
        <p:spPr>
          <a:xfrm>
            <a:off x="7217234" y="6477782"/>
            <a:ext cx="3935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dirty="0"/>
              <a:t>source: www.youtube.com/@Micode</a:t>
            </a:r>
          </a:p>
        </p:txBody>
      </p:sp>
    </p:spTree>
    <p:extLst>
      <p:ext uri="{BB962C8B-B14F-4D97-AF65-F5344CB8AC3E}">
        <p14:creationId xmlns:p14="http://schemas.microsoft.com/office/powerpoint/2010/main" val="607049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74DBD1-A1D9-A2F5-3440-EEF1D59C62AB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Good sides… Bad sides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A4D58B-C869-9399-5374-D0ACF56620F6}"/>
              </a:ext>
            </a:extLst>
          </p:cNvPr>
          <p:cNvSpPr txBox="1"/>
          <p:nvPr/>
        </p:nvSpPr>
        <p:spPr>
          <a:xfrm>
            <a:off x="602029" y="4919008"/>
            <a:ext cx="10987941" cy="1938992"/>
          </a:xfrm>
          <a:prstGeom prst="rect">
            <a:avLst/>
          </a:prstGeom>
          <a:noFill/>
        </p:spPr>
        <p:txBody>
          <a:bodyPr wrap="square" numCol="2" spcCol="720000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b="1" dirty="0">
                <a:solidFill>
                  <a:srgbClr val="1F1F1F"/>
                </a:solidFill>
              </a:rPr>
              <a:t>Conclusions (citation):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“V</a:t>
            </a:r>
            <a:r>
              <a:rPr lang="en-US" b="0" i="0" dirty="0">
                <a:solidFill>
                  <a:srgbClr val="1F1F1F"/>
                </a:solidFill>
                <a:effectLst/>
              </a:rPr>
              <a:t>alue-add through personalization and immediacy, ChatGPT excels at micro-scaffolded guidance, anxiety reduction, and multilingual support.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1F1F1F"/>
              </a:solidFill>
              <a:effectLst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8C636C-A52A-5899-CFBE-DCE64E519683}"/>
              </a:ext>
            </a:extLst>
          </p:cNvPr>
          <p:cNvGrpSpPr/>
          <p:nvPr/>
        </p:nvGrpSpPr>
        <p:grpSpPr>
          <a:xfrm>
            <a:off x="563335" y="591593"/>
            <a:ext cx="11065328" cy="3716683"/>
            <a:chOff x="658585" y="450906"/>
            <a:chExt cx="11065328" cy="371668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0F01A2E-CE6E-8197-B3CE-7B356AD5C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864" b="7587"/>
            <a:stretch>
              <a:fillRect/>
            </a:stretch>
          </p:blipFill>
          <p:spPr>
            <a:xfrm>
              <a:off x="2924234" y="1054274"/>
              <a:ext cx="6343531" cy="311331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9AF0DE6-3061-D6D5-41CC-E71B908C22BB}"/>
                </a:ext>
              </a:extLst>
            </p:cNvPr>
            <p:cNvSpPr txBox="1"/>
            <p:nvPr/>
          </p:nvSpPr>
          <p:spPr>
            <a:xfrm>
              <a:off x="658585" y="450906"/>
              <a:ext cx="11065328" cy="4610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315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-US" b="0" i="1" dirty="0">
                  <a:solidFill>
                    <a:srgbClr val="1F1F1F"/>
                  </a:solidFill>
                  <a:effectLst/>
                </a:rPr>
                <a:t>Systematic review of ChatGPT in higher education: Navigating impact on learning, wellbeing, and collaboration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1068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86A20-238D-11E3-DEF5-1A2E703E7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04DDDA2-35F7-526E-2CFF-B62AAA2741E0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Good sides… Bad sides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A8BD5C-181F-7B67-1848-3A7174757ECB}"/>
              </a:ext>
            </a:extLst>
          </p:cNvPr>
          <p:cNvSpPr txBox="1"/>
          <p:nvPr/>
        </p:nvSpPr>
        <p:spPr>
          <a:xfrm>
            <a:off x="602029" y="4919008"/>
            <a:ext cx="10987941" cy="1938992"/>
          </a:xfrm>
          <a:prstGeom prst="rect">
            <a:avLst/>
          </a:prstGeom>
          <a:noFill/>
        </p:spPr>
        <p:txBody>
          <a:bodyPr wrap="square" numCol="2" spcCol="720000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b="1" dirty="0">
                <a:solidFill>
                  <a:srgbClr val="1F1F1F"/>
                </a:solidFill>
              </a:rPr>
              <a:t>Conclusions (citation):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</a:rPr>
              <a:t>“V</a:t>
            </a:r>
            <a:r>
              <a:rPr lang="en-US" b="0" i="0" dirty="0">
                <a:solidFill>
                  <a:srgbClr val="1F1F1F"/>
                </a:solidFill>
                <a:effectLst/>
              </a:rPr>
              <a:t>alue-add through personalization and immediacy, ChatGPT excels at micro-scaffolded guidance, anxiety reduction, and multilingual support.</a:t>
            </a: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1F1F1F"/>
              </a:solidFill>
              <a:effectLst/>
            </a:endParaRPr>
          </a:p>
          <a:p>
            <a:pPr marL="285750" indent="-28575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</a:rPr>
              <a:t>Risk of skill atrophy through over-reliance, critical thinking, deep reading and original ideation can suffer when AI responses are taken at face value.”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B4728DA-7B55-6C4D-1326-FEC76243DD95}"/>
              </a:ext>
            </a:extLst>
          </p:cNvPr>
          <p:cNvGrpSpPr/>
          <p:nvPr/>
        </p:nvGrpSpPr>
        <p:grpSpPr>
          <a:xfrm>
            <a:off x="563335" y="591593"/>
            <a:ext cx="11065328" cy="3716683"/>
            <a:chOff x="658585" y="450906"/>
            <a:chExt cx="11065328" cy="371668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9998F1B-0B44-CC3D-3797-87EC9CCD0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864" b="7587"/>
            <a:stretch>
              <a:fillRect/>
            </a:stretch>
          </p:blipFill>
          <p:spPr>
            <a:xfrm>
              <a:off x="2924234" y="1054274"/>
              <a:ext cx="6343531" cy="311331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2F12337-1EF5-B4EF-8F9C-4C68F522F425}"/>
                </a:ext>
              </a:extLst>
            </p:cNvPr>
            <p:cNvSpPr txBox="1"/>
            <p:nvPr/>
          </p:nvSpPr>
          <p:spPr>
            <a:xfrm>
              <a:off x="658585" y="450906"/>
              <a:ext cx="11065328" cy="4610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315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-US" b="0" i="1" dirty="0">
                  <a:solidFill>
                    <a:srgbClr val="1F1F1F"/>
                  </a:solidFill>
                  <a:effectLst/>
                </a:rPr>
                <a:t>Systematic review of ChatGPT in higher education: Navigating impact on learning, wellbeing, and collaboration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9592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30018-CB58-D654-FE19-80E56D0F2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3A02C7-3890-5FD2-6E88-23DC2686AE47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Good sides… Bad sides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1C2EA3-3EAD-AF3C-5B98-3ED5B5C328F8}"/>
              </a:ext>
            </a:extLst>
          </p:cNvPr>
          <p:cNvSpPr txBox="1"/>
          <p:nvPr/>
        </p:nvSpPr>
        <p:spPr>
          <a:xfrm>
            <a:off x="0" y="439194"/>
            <a:ext cx="7097485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Vector of equality or inequalities?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42E3031-5A63-C687-32CB-F1A477D093D0}"/>
              </a:ext>
            </a:extLst>
          </p:cNvPr>
          <p:cNvGrpSpPr/>
          <p:nvPr/>
        </p:nvGrpSpPr>
        <p:grpSpPr>
          <a:xfrm>
            <a:off x="1453242" y="2451448"/>
            <a:ext cx="9285515" cy="4266489"/>
            <a:chOff x="1273629" y="2587773"/>
            <a:chExt cx="9285515" cy="4266489"/>
          </a:xfrm>
        </p:grpSpPr>
        <p:pic>
          <p:nvPicPr>
            <p:cNvPr id="2050" name="Picture 2" descr="Details are in the caption following the image">
              <a:extLst>
                <a:ext uri="{FF2B5EF4-FFF2-40B4-BE49-F238E27FC236}">
                  <a16:creationId xmlns:a16="http://schemas.microsoft.com/office/drawing/2014/main" id="{F5FE067A-44C2-FCFC-8573-09DB1A5A5F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3629" y="2901387"/>
              <a:ext cx="9144001" cy="3952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705F51-4D8E-C45A-98B1-2B403269A4EF}"/>
                </a:ext>
              </a:extLst>
            </p:cNvPr>
            <p:cNvSpPr txBox="1"/>
            <p:nvPr/>
          </p:nvSpPr>
          <p:spPr>
            <a:xfrm>
              <a:off x="4921704" y="2587773"/>
              <a:ext cx="56374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i="1" dirty="0"/>
                <a:t>ChatGPT: The cognitive effects on learning and memory</a:t>
              </a:r>
              <a:endParaRPr lang="en-GB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5351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6D8BA-0D1B-0654-6E33-BCABD7FFA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95D7DB-26EE-E4D6-8B32-3512F397F3FD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Good sides… Bad sides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AC7B19-F8B6-3756-5100-B30CA38EFBE6}"/>
              </a:ext>
            </a:extLst>
          </p:cNvPr>
          <p:cNvSpPr txBox="1"/>
          <p:nvPr/>
        </p:nvSpPr>
        <p:spPr>
          <a:xfrm>
            <a:off x="0" y="439194"/>
            <a:ext cx="7097485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Vector of equality or inequalities?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Too much data, unlimited access to information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FAA5BFA-BED9-62B1-99CC-D25569672254}"/>
              </a:ext>
            </a:extLst>
          </p:cNvPr>
          <p:cNvGrpSpPr/>
          <p:nvPr/>
        </p:nvGrpSpPr>
        <p:grpSpPr>
          <a:xfrm>
            <a:off x="1453242" y="2451448"/>
            <a:ext cx="9285515" cy="4266489"/>
            <a:chOff x="1273629" y="2587773"/>
            <a:chExt cx="9285515" cy="4266489"/>
          </a:xfrm>
        </p:grpSpPr>
        <p:pic>
          <p:nvPicPr>
            <p:cNvPr id="2050" name="Picture 2" descr="Details are in the caption following the image">
              <a:extLst>
                <a:ext uri="{FF2B5EF4-FFF2-40B4-BE49-F238E27FC236}">
                  <a16:creationId xmlns:a16="http://schemas.microsoft.com/office/drawing/2014/main" id="{F0FB6106-A27A-C923-43A5-4990346D0E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3629" y="2901387"/>
              <a:ext cx="9144001" cy="3952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F26941-6646-0657-F087-610885AF2FC2}"/>
                </a:ext>
              </a:extLst>
            </p:cNvPr>
            <p:cNvSpPr txBox="1"/>
            <p:nvPr/>
          </p:nvSpPr>
          <p:spPr>
            <a:xfrm>
              <a:off x="4921704" y="2587773"/>
              <a:ext cx="56374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i="1" dirty="0"/>
                <a:t>ChatGPT: The cognitive effects on learning and memory</a:t>
              </a:r>
              <a:endParaRPr lang="en-GB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41030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774BD-D7E7-D07C-4DAC-7B7B900A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FE88C-F7AC-ADA0-CECB-E12E6389DCFB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Good sides… Bad sides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1F1CCB-1443-78B7-F681-2DAA7CA6EF9E}"/>
              </a:ext>
            </a:extLst>
          </p:cNvPr>
          <p:cNvSpPr txBox="1"/>
          <p:nvPr/>
        </p:nvSpPr>
        <p:spPr>
          <a:xfrm>
            <a:off x="0" y="439194"/>
            <a:ext cx="7097485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Vector of equality or inequalities?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Too much data, unlimited access to information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The productivity race, winning time… Whatever the cost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0C3520D-6D23-5EC7-CA40-FC47AC23B32B}"/>
              </a:ext>
            </a:extLst>
          </p:cNvPr>
          <p:cNvGrpSpPr/>
          <p:nvPr/>
        </p:nvGrpSpPr>
        <p:grpSpPr>
          <a:xfrm>
            <a:off x="1453242" y="2451448"/>
            <a:ext cx="9285515" cy="4266489"/>
            <a:chOff x="1273629" y="2587773"/>
            <a:chExt cx="9285515" cy="4266489"/>
          </a:xfrm>
        </p:grpSpPr>
        <p:pic>
          <p:nvPicPr>
            <p:cNvPr id="2050" name="Picture 2" descr="Details are in the caption following the image">
              <a:extLst>
                <a:ext uri="{FF2B5EF4-FFF2-40B4-BE49-F238E27FC236}">
                  <a16:creationId xmlns:a16="http://schemas.microsoft.com/office/drawing/2014/main" id="{EC0E14A9-824E-1039-278B-AA1DFC5120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3629" y="2901387"/>
              <a:ext cx="9144001" cy="3952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5B4C9F-830D-6E4A-EED9-464994871D05}"/>
                </a:ext>
              </a:extLst>
            </p:cNvPr>
            <p:cNvSpPr txBox="1"/>
            <p:nvPr/>
          </p:nvSpPr>
          <p:spPr>
            <a:xfrm>
              <a:off x="4921704" y="2587773"/>
              <a:ext cx="56374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i="1" dirty="0"/>
                <a:t>ChatGPT: The cognitive effects on learning and memory</a:t>
              </a:r>
              <a:endParaRPr lang="en-GB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1534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0CF74-FBCA-4065-BBF0-CA9273EA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4988DD-7796-369B-006C-AD8143B96E7A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Good sides… Bad sides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F03E7-205B-EE4A-E157-370152E8ABFD}"/>
              </a:ext>
            </a:extLst>
          </p:cNvPr>
          <p:cNvSpPr txBox="1"/>
          <p:nvPr/>
        </p:nvSpPr>
        <p:spPr>
          <a:xfrm>
            <a:off x="0" y="439194"/>
            <a:ext cx="7097485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Vector of equality or inequalities?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Too much data, unlimited access to information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The productivity race, winning time… Whatever the cost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Giving confidence to try new tasks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0ADDB0C-030E-029D-826E-B2A7B7126B78}"/>
              </a:ext>
            </a:extLst>
          </p:cNvPr>
          <p:cNvGrpSpPr/>
          <p:nvPr/>
        </p:nvGrpSpPr>
        <p:grpSpPr>
          <a:xfrm>
            <a:off x="1453242" y="2451448"/>
            <a:ext cx="9285515" cy="4266489"/>
            <a:chOff x="1273629" y="2587773"/>
            <a:chExt cx="9285515" cy="4266489"/>
          </a:xfrm>
        </p:grpSpPr>
        <p:pic>
          <p:nvPicPr>
            <p:cNvPr id="2050" name="Picture 2" descr="Details are in the caption following the image">
              <a:extLst>
                <a:ext uri="{FF2B5EF4-FFF2-40B4-BE49-F238E27FC236}">
                  <a16:creationId xmlns:a16="http://schemas.microsoft.com/office/drawing/2014/main" id="{32C999C6-6126-97C0-3A66-6051EE28E6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3629" y="2901387"/>
              <a:ext cx="9144001" cy="3952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2C3F4BA-2526-764F-6F05-F69463E31730}"/>
                </a:ext>
              </a:extLst>
            </p:cNvPr>
            <p:cNvSpPr txBox="1"/>
            <p:nvPr/>
          </p:nvSpPr>
          <p:spPr>
            <a:xfrm>
              <a:off x="4921704" y="2587773"/>
              <a:ext cx="56374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i="1" dirty="0"/>
                <a:t>ChatGPT: The cognitive effects on learning and memory</a:t>
              </a:r>
              <a:endParaRPr lang="en-GB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53254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A440-1B17-49AB-B9EB-A561CAEEF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53FF1-ED6E-285F-C98F-1A783B64D96F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A race against the times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6031DA3-7060-A961-87E0-F3CF787CFCA9}"/>
              </a:ext>
            </a:extLst>
          </p:cNvPr>
          <p:cNvGrpSpPr/>
          <p:nvPr/>
        </p:nvGrpSpPr>
        <p:grpSpPr>
          <a:xfrm>
            <a:off x="849550" y="2073387"/>
            <a:ext cx="10492899" cy="4395653"/>
            <a:chOff x="1491807" y="1600896"/>
            <a:chExt cx="10492899" cy="4395653"/>
          </a:xfrm>
        </p:grpSpPr>
        <p:pic>
          <p:nvPicPr>
            <p:cNvPr id="1026" name="Picture 2" descr="Details are in the caption following the image">
              <a:extLst>
                <a:ext uri="{FF2B5EF4-FFF2-40B4-BE49-F238E27FC236}">
                  <a16:creationId xmlns:a16="http://schemas.microsoft.com/office/drawing/2014/main" id="{3CCC86EB-AB11-9CDA-BE48-01A0C69ADA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1807" y="1600896"/>
              <a:ext cx="10492899" cy="3677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4658310-BBC1-F5A4-736E-A158F6F4AAAE}"/>
                </a:ext>
              </a:extLst>
            </p:cNvPr>
            <p:cNvSpPr txBox="1"/>
            <p:nvPr/>
          </p:nvSpPr>
          <p:spPr>
            <a:xfrm>
              <a:off x="3919536" y="5627217"/>
              <a:ext cx="56374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i="1" dirty="0"/>
                <a:t>ChatGPT: The cognitive effects on learning and memory</a:t>
              </a:r>
              <a:endParaRPr lang="en-GB" i="1" dirty="0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8B7415-194E-9EFB-F625-953236362261}"/>
              </a:ext>
            </a:extLst>
          </p:cNvPr>
          <p:cNvCxnSpPr>
            <a:cxnSpLocks/>
          </p:cNvCxnSpPr>
          <p:nvPr/>
        </p:nvCxnSpPr>
        <p:spPr>
          <a:xfrm>
            <a:off x="9418665" y="3852282"/>
            <a:ext cx="938119" cy="0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705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FB2F-E6FC-EB6E-7E5E-4D677B4A2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88A986-3407-9BFE-E7BC-2781600E1C06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Going sober, when to quit AI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59EF361-877F-0AA2-F581-852B22C6B864}"/>
              </a:ext>
            </a:extLst>
          </p:cNvPr>
          <p:cNvGrpSpPr/>
          <p:nvPr/>
        </p:nvGrpSpPr>
        <p:grpSpPr>
          <a:xfrm>
            <a:off x="1826614" y="1140433"/>
            <a:ext cx="8538771" cy="4946222"/>
            <a:chOff x="2466686" y="1140433"/>
            <a:chExt cx="8538771" cy="494622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1E2E58A-F0C3-3430-0B16-515886FD2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56837" y="1140433"/>
              <a:ext cx="7158470" cy="457713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03EFBB1-CB31-461E-5867-ECA9982D99E9}"/>
                </a:ext>
              </a:extLst>
            </p:cNvPr>
            <p:cNvSpPr txBox="1"/>
            <p:nvPr/>
          </p:nvSpPr>
          <p:spPr>
            <a:xfrm>
              <a:off x="2466686" y="5717323"/>
              <a:ext cx="85387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i="1" dirty="0"/>
                <a:t>Vibe Shift? Senior Developers Ship nearly 2.5x more AI Code than Junior Counterparts</a:t>
              </a:r>
              <a:endParaRPr lang="en-GB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05366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6F5216-C89C-1739-4602-722C71AE7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" y="761214"/>
            <a:ext cx="7266939" cy="44845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E0484D-41D5-ABAB-2BF1-C3F7588C57F7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Going sober, when to quit AI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CCB29-4575-EF7B-AEF9-A3327CD5D259}"/>
              </a:ext>
            </a:extLst>
          </p:cNvPr>
          <p:cNvSpPr txBox="1"/>
          <p:nvPr/>
        </p:nvSpPr>
        <p:spPr>
          <a:xfrm>
            <a:off x="6881009" y="4585134"/>
            <a:ext cx="5252359" cy="227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0" dirty="0">
                <a:solidFill>
                  <a:srgbClr val="25201E"/>
                </a:solidFill>
                <a:effectLst/>
              </a:rPr>
              <a:t>This survey was conducted by Fastly from July 10 to July 14, 2025, with 791 professional developers. All respondents confirm that writing or reviewing code is a core part of their job. The survey is distributed in the US and quality-controlled for accuracy, though, as with all self-reported data, some bias is possible. 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15970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C79B2-DCB5-8925-0C9A-2208CDD97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CB9162-2CA0-4CDC-1958-8C10B50F486E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Going sober, when to quit AI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CCD86B-CFC9-A9BE-EC6B-486C5CCF4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644" y="1195101"/>
            <a:ext cx="8284711" cy="44677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48160C-FADA-01ED-1144-36A56BA12565}"/>
              </a:ext>
            </a:extLst>
          </p:cNvPr>
          <p:cNvSpPr txBox="1"/>
          <p:nvPr/>
        </p:nvSpPr>
        <p:spPr>
          <a:xfrm>
            <a:off x="6402405" y="5597582"/>
            <a:ext cx="3935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dirty="0"/>
              <a:t>source: www.youtube.com/@Micode</a:t>
            </a:r>
          </a:p>
        </p:txBody>
      </p:sp>
    </p:spTree>
    <p:extLst>
      <p:ext uri="{BB962C8B-B14F-4D97-AF65-F5344CB8AC3E}">
        <p14:creationId xmlns:p14="http://schemas.microsoft.com/office/powerpoint/2010/main" val="2150820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975B7-CA45-FE4E-6F7C-FF97E784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B40018-01D3-FE10-B949-36F804892160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Going sober, when to quit AI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959F55-BE6D-4FE1-7C6D-745E55FAB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644" y="1195101"/>
            <a:ext cx="8284711" cy="44677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AA4A4D-0074-D130-1538-D76749907C7F}"/>
              </a:ext>
            </a:extLst>
          </p:cNvPr>
          <p:cNvSpPr txBox="1"/>
          <p:nvPr/>
        </p:nvSpPr>
        <p:spPr>
          <a:xfrm>
            <a:off x="6402405" y="5597582"/>
            <a:ext cx="3935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dirty="0"/>
              <a:t>source: www.youtube.com/@Micode</a:t>
            </a:r>
          </a:p>
        </p:txBody>
      </p:sp>
      <p:pic>
        <p:nvPicPr>
          <p:cNvPr id="4" name="Graphic 3" descr="Arrow: Counter-clockwise curve with solid fill">
            <a:extLst>
              <a:ext uri="{FF2B5EF4-FFF2-40B4-BE49-F238E27FC236}">
                <a16:creationId xmlns:a16="http://schemas.microsoft.com/office/drawing/2014/main" id="{D22CBC12-6A3A-D24F-8D29-462106E0E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326074">
            <a:off x="5100990" y="3212379"/>
            <a:ext cx="683189" cy="8795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70EF1A-C42C-A688-D901-91A7E12B4B49}"/>
              </a:ext>
            </a:extLst>
          </p:cNvPr>
          <p:cNvSpPr txBox="1"/>
          <p:nvPr/>
        </p:nvSpPr>
        <p:spPr>
          <a:xfrm>
            <a:off x="2953336" y="3388192"/>
            <a:ext cx="2090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Enforcing strong boundaries on your own AI use</a:t>
            </a:r>
          </a:p>
        </p:txBody>
      </p:sp>
    </p:spTree>
    <p:extLst>
      <p:ext uri="{BB962C8B-B14F-4D97-AF65-F5344CB8AC3E}">
        <p14:creationId xmlns:p14="http://schemas.microsoft.com/office/powerpoint/2010/main" val="3802822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9BB3246-9907-67E1-460F-F98B1F8BFE3C}"/>
              </a:ext>
            </a:extLst>
          </p:cNvPr>
          <p:cNvGrpSpPr/>
          <p:nvPr/>
        </p:nvGrpSpPr>
        <p:grpSpPr>
          <a:xfrm>
            <a:off x="1237647" y="709864"/>
            <a:ext cx="9716705" cy="5274643"/>
            <a:chOff x="543826" y="481264"/>
            <a:chExt cx="9716705" cy="527464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7DAC23D-C4C3-37D0-5FFC-66B4E34F974F}"/>
                </a:ext>
              </a:extLst>
            </p:cNvPr>
            <p:cNvGrpSpPr/>
            <p:nvPr/>
          </p:nvGrpSpPr>
          <p:grpSpPr>
            <a:xfrm>
              <a:off x="543826" y="481264"/>
              <a:ext cx="9716705" cy="5274643"/>
              <a:chOff x="543826" y="481264"/>
              <a:chExt cx="9716705" cy="5274643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AFD6AE55-628B-5A1A-85AF-27F399A8F668}"/>
                  </a:ext>
                </a:extLst>
              </p:cNvPr>
              <p:cNvSpPr/>
              <p:nvPr/>
            </p:nvSpPr>
            <p:spPr>
              <a:xfrm>
                <a:off x="543826" y="644893"/>
                <a:ext cx="9716705" cy="5111014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7" name="Graphic 6" descr="Daily calendar outline">
                <a:extLst>
                  <a:ext uri="{FF2B5EF4-FFF2-40B4-BE49-F238E27FC236}">
                    <a16:creationId xmlns:a16="http://schemas.microsoft.com/office/drawing/2014/main" id="{AAD617E5-939F-FF26-1E7C-43AFE47453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337911" y="481264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EA547AD-80C5-866E-98DF-59D0CB14609A}"/>
                </a:ext>
              </a:extLst>
            </p:cNvPr>
            <p:cNvSpPr txBox="1"/>
            <p:nvPr/>
          </p:nvSpPr>
          <p:spPr>
            <a:xfrm>
              <a:off x="943276" y="1453415"/>
              <a:ext cx="9095874" cy="3693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Session 1:</a:t>
              </a:r>
              <a:r>
                <a:rPr lang="en-GB" dirty="0"/>
                <a:t> AI introduction and building a personal code of conduct for AI use (February)</a:t>
              </a:r>
            </a:p>
            <a:p>
              <a:endParaRPr lang="en-GB" dirty="0"/>
            </a:p>
            <a:p>
              <a:endParaRPr lang="en-GB" dirty="0"/>
            </a:p>
            <a:p>
              <a:r>
                <a:rPr lang="en-GB" b="1" dirty="0"/>
                <a:t>Session 2:</a:t>
              </a:r>
              <a:r>
                <a:rPr lang="en-GB" dirty="0"/>
                <a:t> What type of AI is there? What’s their differences? (March)</a:t>
              </a:r>
            </a:p>
            <a:p>
              <a:endParaRPr lang="en-GB" dirty="0"/>
            </a:p>
            <a:p>
              <a:endParaRPr lang="en-GB" dirty="0"/>
            </a:p>
            <a:p>
              <a:r>
                <a:rPr lang="en-GB" b="1" dirty="0"/>
                <a:t>Session 3:</a:t>
              </a:r>
              <a:r>
                <a:rPr lang="en-GB" dirty="0"/>
                <a:t> Building your own AI tool (April)</a:t>
              </a:r>
            </a:p>
            <a:p>
              <a:endParaRPr lang="en-GB" dirty="0"/>
            </a:p>
            <a:p>
              <a:endParaRPr lang="en-GB" dirty="0"/>
            </a:p>
            <a:p>
              <a:r>
                <a:rPr lang="en-GB" b="1" dirty="0"/>
                <a:t>Session 4:</a:t>
              </a:r>
              <a:r>
                <a:rPr lang="en-GB" dirty="0"/>
                <a:t> Building your own AI tool (May)</a:t>
              </a:r>
            </a:p>
            <a:p>
              <a:endParaRPr lang="en-GB" dirty="0"/>
            </a:p>
            <a:p>
              <a:endParaRPr lang="en-GB" dirty="0"/>
            </a:p>
            <a:p>
              <a:r>
                <a:rPr lang="en-GB" b="1" dirty="0"/>
                <a:t>Session 5:</a:t>
              </a:r>
              <a:r>
                <a:rPr lang="en-GB" dirty="0"/>
                <a:t> Assignment, producing a R script made with the help of your AI tool (June)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FAB2353-20EE-CA1A-78FD-777BAC6C682A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R club, program and milestones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90650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etails are in the caption following the image">
            <a:extLst>
              <a:ext uri="{FF2B5EF4-FFF2-40B4-BE49-F238E27FC236}">
                <a16:creationId xmlns:a16="http://schemas.microsoft.com/office/drawing/2014/main" id="{6F0EEA9B-61CD-69E9-904D-F1759B454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8350"/>
            <a:ext cx="12192000" cy="608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72B1B1-86FA-6250-2330-3FC35A0F539F}"/>
              </a:ext>
            </a:extLst>
          </p:cNvPr>
          <p:cNvSpPr txBox="1"/>
          <p:nvPr/>
        </p:nvSpPr>
        <p:spPr>
          <a:xfrm>
            <a:off x="6603547" y="464334"/>
            <a:ext cx="563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ChatGPT: The cognitive effects on learning and memory</a:t>
            </a:r>
            <a:endParaRPr lang="en-GB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AE32A-12E6-7A8F-3D3D-32D2BDA2B0F1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Conclusion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87220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686</Words>
  <Application>Microsoft Office PowerPoint</Application>
  <PresentationFormat>Widescreen</PresentationFormat>
  <Paragraphs>94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Aptos</vt:lpstr>
      <vt:lpstr>Aptos Display</vt:lpstr>
      <vt:lpstr>Arial</vt:lpstr>
      <vt:lpstr>Georgia Pro Semibold</vt:lpstr>
      <vt:lpstr>Gill Sans Nova</vt:lpstr>
      <vt:lpstr>Grandview</vt:lpstr>
      <vt:lpstr>Grandview Display</vt:lpstr>
      <vt:lpstr>Kristen ITC</vt:lpstr>
      <vt:lpstr>Modern Love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Daniel, Caroline Marianne Véronique (IEE)</dc:creator>
  <cp:lastModifiedBy>Daniel, Caroline Marianne Véronique (IEE)</cp:lastModifiedBy>
  <cp:revision>8</cp:revision>
  <dcterms:created xsi:type="dcterms:W3CDTF">2026-02-16T16:57:43Z</dcterms:created>
  <dcterms:modified xsi:type="dcterms:W3CDTF">2026-02-17T09:20:40Z</dcterms:modified>
</cp:coreProperties>
</file>