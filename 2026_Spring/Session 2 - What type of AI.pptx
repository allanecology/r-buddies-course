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sldIdLst>
    <p:sldId id="257" r:id="rId2"/>
    <p:sldId id="268" r:id="rId3"/>
    <p:sldId id="269" r:id="rId4"/>
    <p:sldId id="270" r:id="rId5"/>
    <p:sldId id="256" r:id="rId6"/>
    <p:sldId id="271" r:id="rId7"/>
    <p:sldId id="272" r:id="rId8"/>
    <p:sldId id="275" r:id="rId9"/>
    <p:sldId id="273" r:id="rId10"/>
    <p:sldId id="274" r:id="rId11"/>
    <p:sldId id="277" r:id="rId12"/>
    <p:sldId id="278" r:id="rId13"/>
    <p:sldId id="279" r:id="rId14"/>
    <p:sldId id="280" r:id="rId15"/>
    <p:sldId id="281" r:id="rId16"/>
    <p:sldId id="282" r:id="rId17"/>
    <p:sldId id="283" r:id="rId18"/>
    <p:sldId id="284" r:id="rId19"/>
    <p:sldId id="276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CD2FD42-1B95-415E-9E8A-8B5AFA7EF553}" type="datetimeFigureOut">
              <a:rPr lang="en-GB" smtClean="0"/>
              <a:t>16/03/2026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4893467-CE29-40C4-B468-D39E3F8FF41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483605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0F9F1C-18AA-4CC4-B176-83925A0CE1C1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495937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2F8576-8760-E17A-1184-453A5943943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A05B3AB-EB91-47ED-78C0-13A510E88C4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10E34F-58FB-6F73-3A1E-60C5C2AF5C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556A83-3E44-4FFB-A493-33A51CAADC76}" type="datetimeFigureOut">
              <a:rPr lang="en-GB" smtClean="0"/>
              <a:t>16/03/2026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9CB93F-3F28-D333-08D3-294CB305A2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ED8CC3-D892-4FEA-824D-002468EE66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CCE3-64F4-4EC9-B214-6569F613287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685073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40E3BF-8D16-5AFF-9E2F-9A4D2096B7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175BC7-90E7-F6CF-DE1E-487CEDD082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8DB2B9-2B23-E921-B13C-FCC39395FD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556A83-3E44-4FFB-A493-33A51CAADC76}" type="datetimeFigureOut">
              <a:rPr lang="en-GB" smtClean="0"/>
              <a:t>16/03/2026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BCCBD0-EF52-94A5-7490-835E0ECA46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DD5473-3901-0D3B-CEED-43CD48C5A7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CCE3-64F4-4EC9-B214-6569F613287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148759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EDFB03-72C8-CE14-84E3-7A4305499C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324370-78D1-7C3F-8023-964D8E3AE6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7561CE-3BA4-08D1-612B-3DD6F5C50B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556A83-3E44-4FFB-A493-33A51CAADC76}" type="datetimeFigureOut">
              <a:rPr lang="en-GB" smtClean="0"/>
              <a:t>16/03/2026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81423B-E303-A119-75AA-A6623D6BBC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C69927-90ED-9EA7-8DD7-33C0DB36C5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CCE3-64F4-4EC9-B214-6569F613287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318017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2268CB-D1C2-EF94-FDFF-6E6107DB1F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F83B7E-5EF7-1988-7E06-8D0B28FABEF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732A063-E8DF-AAB1-4C00-0CC1B0C2D5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0D395DD-DD44-42C3-3B10-6A875678E2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556A83-3E44-4FFB-A493-33A51CAADC76}" type="datetimeFigureOut">
              <a:rPr lang="en-GB" smtClean="0"/>
              <a:t>16/03/2026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1C270D-7061-799F-529F-7EE57B2DAB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38B3BB-D323-7368-B0A2-6C5DA736A6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CCE3-64F4-4EC9-B214-6569F613287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294324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A81ACE-63EA-EAD0-2B34-C4D81DF387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88D6ED-750D-474A-5314-1DF97F76BA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F05B59B-8471-5801-156D-3E0207452D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10265B8-9791-1331-342B-06062E27D3A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47C1C53-3D32-230F-64C1-9404446D0A2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CF68708-8E64-E8EF-D4D9-FDDA77554E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556A83-3E44-4FFB-A493-33A51CAADC76}" type="datetimeFigureOut">
              <a:rPr lang="en-GB" smtClean="0"/>
              <a:t>16/03/2026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FEA14DF-CB2B-7FE7-B5AE-BF157F9C79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128184E-E8C5-703F-34C3-0B1B5B9A45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CCE3-64F4-4EC9-B214-6569F613287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859887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1F4F59-76C7-266E-9BF7-23AA22A9BF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FB6B0F3-9734-BC36-688E-CAE5DD1A06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556A83-3E44-4FFB-A493-33A51CAADC76}" type="datetimeFigureOut">
              <a:rPr lang="en-GB" smtClean="0"/>
              <a:t>16/03/2026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E637320-0F1E-AE5B-B5C7-6B5B5DAFFE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9B15E2D-6238-4184-2B0F-46B1CDCB56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CCE3-64F4-4EC9-B214-6569F613287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791185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310F79B-6195-E4EE-0492-BAA4717C6A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556A83-3E44-4FFB-A493-33A51CAADC76}" type="datetimeFigureOut">
              <a:rPr lang="en-GB" smtClean="0"/>
              <a:t>16/03/2026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679CB1F-36EA-2318-4484-79A6348E0A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ABE4E8-75BE-51E4-992F-CF1CFA586B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CCE3-64F4-4EC9-B214-6569F613287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668858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DD9B58-8FD5-7482-F08F-64AB7ECD13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142E21-B968-7B90-421F-5D400D751A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550FCF-CF8F-4F28-B548-4F74C88398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9612F7-ECBF-E918-D98E-FA43744C5E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556A83-3E44-4FFB-A493-33A51CAADC76}" type="datetimeFigureOut">
              <a:rPr lang="en-GB" smtClean="0"/>
              <a:t>16/03/2026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654F51-1E8F-E1D4-E587-4A4BA9499B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0E93ED-3D38-5F36-17FA-5051D99559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CCE3-64F4-4EC9-B214-6569F613287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995844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884C6B-FEF6-4689-A91A-D051CEA1C7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4EA8201-32C9-86A6-1B3B-EE46B4E56FE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585F5A-6F24-7525-84CA-3B46331E81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6EB5FF-97E6-83B0-3F5C-4BD15C4C21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556A83-3E44-4FFB-A493-33A51CAADC76}" type="datetimeFigureOut">
              <a:rPr lang="en-GB" smtClean="0"/>
              <a:t>16/03/2026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8591C6-F815-2448-D8AF-1AAC745FF1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EC2650-AA0A-332D-85C5-F36ADD4A84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CCE3-64F4-4EC9-B214-6569F613287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293124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9BCF1F-BD14-6F3B-FA7C-3D066D5B31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6D5C12E-A378-5723-E846-BF0C01CE81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0BA592-5D9C-F52B-ED45-D36EEFDB36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556A83-3E44-4FFB-A493-33A51CAADC76}" type="datetimeFigureOut">
              <a:rPr lang="en-GB" smtClean="0"/>
              <a:t>16/03/2026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8F1EA5-3BC2-A20E-0E77-049EF5DF85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5B39E5-725F-0875-99BA-45DCB05973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CCE3-64F4-4EC9-B214-6569F613287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092921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0C93B6E-4597-A096-6DFB-95FFF3981B4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FE8C25C-AE9E-F4FF-4679-DA517D493B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CB1FE4-E3CE-600D-0680-6FA87A22A1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556A83-3E44-4FFB-A493-33A51CAADC76}" type="datetimeFigureOut">
              <a:rPr lang="en-GB" smtClean="0"/>
              <a:t>16/03/2026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CA5526-C778-62A4-037C-C9ABEAB235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696344-C4BC-7E0E-4A34-77440A55ED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CCE3-64F4-4EC9-B214-6569F613287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219298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4248633-D628-4CA7-681B-836AC48F02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4405C8-CB4B-1B42-6589-861B13F937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BE44EA-E2E6-ABF0-6C4E-4893F970167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B556A83-3E44-4FFB-A493-33A51CAADC76}" type="datetimeFigureOut">
              <a:rPr lang="en-GB" smtClean="0"/>
              <a:t>16/03/2026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A2F751-C0C7-05AD-497C-0BC4764BC91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5E0B07-3964-B911-F643-5AF5E03422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560CCE3-64F4-4EC9-B214-6569F613287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445606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microsoft.com/office/2007/relationships/hdphoto" Target="../media/hdphoto1.wdp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sv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microsoft.com/office/2007/relationships/hdphoto" Target="../media/hdphoto2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95C4B2-2EC1-37F9-A39A-77D7DD4534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8A005A5-D2E0-944C-8B78-4968017B9EE3}"/>
              </a:ext>
            </a:extLst>
          </p:cNvPr>
          <p:cNvSpPr/>
          <p:nvPr/>
        </p:nvSpPr>
        <p:spPr>
          <a:xfrm>
            <a:off x="307249" y="609606"/>
            <a:ext cx="11520332" cy="570322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919" dirty="0"/>
          </a:p>
        </p:txBody>
      </p:sp>
      <p:pic>
        <p:nvPicPr>
          <p:cNvPr id="3" name="Picture 2" descr="Laptop Pusheen">
            <a:extLst>
              <a:ext uri="{FF2B5EF4-FFF2-40B4-BE49-F238E27FC236}">
                <a16:creationId xmlns:a16="http://schemas.microsoft.com/office/drawing/2014/main" id="{D9284574-4E9F-1BA1-13F2-FC30F64CB96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76930" y="4483939"/>
            <a:ext cx="3107510" cy="310751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5EF2E7B-49FA-CAC1-8E5D-BF5A1E60A722}"/>
              </a:ext>
            </a:extLst>
          </p:cNvPr>
          <p:cNvSpPr txBox="1"/>
          <p:nvPr/>
        </p:nvSpPr>
        <p:spPr>
          <a:xfrm>
            <a:off x="841038" y="4129309"/>
            <a:ext cx="2900301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 dirty="0">
                <a:latin typeface="Georgia Pro Semibold" panose="02040702050405020303" pitchFamily="18" charset="0"/>
              </a:rPr>
              <a:t>R </a:t>
            </a:r>
          </a:p>
          <a:p>
            <a:r>
              <a:rPr lang="en-GB" sz="3600" dirty="0">
                <a:latin typeface="Georgia Pro Semibold" panose="02040702050405020303" pitchFamily="18" charset="0"/>
              </a:rPr>
              <a:t>Buddies</a:t>
            </a:r>
          </a:p>
          <a:p>
            <a:r>
              <a:rPr lang="en-GB" sz="3600" dirty="0">
                <a:latin typeface="Georgia Pro Semibold" panose="02040702050405020303" pitchFamily="18" charset="0"/>
              </a:rPr>
              <a:t>Club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247F2F6F-67DA-106A-42EB-3260CF2C9AC9}"/>
              </a:ext>
            </a:extLst>
          </p:cNvPr>
          <p:cNvGrpSpPr/>
          <p:nvPr/>
        </p:nvGrpSpPr>
        <p:grpSpPr>
          <a:xfrm>
            <a:off x="6273468" y="242505"/>
            <a:ext cx="5611283" cy="3186495"/>
            <a:chOff x="0" y="-283086"/>
            <a:chExt cx="6650727" cy="3589337"/>
          </a:xfrm>
        </p:grpSpPr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74653F2B-14AF-6AE3-CE20-2116321A3CDE}"/>
                </a:ext>
              </a:extLst>
            </p:cNvPr>
            <p:cNvCxnSpPr>
              <a:cxnSpLocks/>
            </p:cNvCxnSpPr>
            <p:nvPr/>
          </p:nvCxnSpPr>
          <p:spPr>
            <a:xfrm>
              <a:off x="3131540" y="268273"/>
              <a:ext cx="0" cy="2488212"/>
            </a:xfrm>
            <a:prstGeom prst="straightConnector1">
              <a:avLst/>
            </a:prstGeom>
            <a:ln w="57150">
              <a:headEnd type="oval" w="med" len="med"/>
              <a:tailEnd type="oval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pic>
          <p:nvPicPr>
            <p:cNvPr id="7" name="Picture 4" descr="AI Tidal Wave cartoon">
              <a:extLst>
                <a:ext uri="{FF2B5EF4-FFF2-40B4-BE49-F238E27FC236}">
                  <a16:creationId xmlns:a16="http://schemas.microsoft.com/office/drawing/2014/main" id="{42A7A709-DADF-DEB5-2018-200058C04E0B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3022"/>
            <a:stretch>
              <a:fillRect/>
            </a:stretch>
          </p:blipFill>
          <p:spPr bwMode="auto">
            <a:xfrm>
              <a:off x="0" y="-283086"/>
              <a:ext cx="6650727" cy="358933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BEE61FB3-5624-08CB-848D-1D31F4746E2D}"/>
                </a:ext>
              </a:extLst>
            </p:cNvPr>
            <p:cNvSpPr/>
            <p:nvPr/>
          </p:nvSpPr>
          <p:spPr>
            <a:xfrm>
              <a:off x="4754032" y="236562"/>
              <a:ext cx="783168" cy="18254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B1DC7A82-0460-756D-A2B0-E73B261D1624}"/>
                </a:ext>
              </a:extLst>
            </p:cNvPr>
            <p:cNvSpPr txBox="1"/>
            <p:nvPr/>
          </p:nvSpPr>
          <p:spPr>
            <a:xfrm>
              <a:off x="4524222" y="180081"/>
              <a:ext cx="1180205" cy="34309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200" dirty="0">
                  <a:latin typeface="Kristen ITC" panose="03050502040202030202" pitchFamily="66" charset="0"/>
                </a:rPr>
                <a:t>coding</a:t>
              </a: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90FDBE78-0409-A46D-7148-99CFD647EFCD}"/>
                </a:ext>
              </a:extLst>
            </p:cNvPr>
            <p:cNvSpPr/>
            <p:nvPr/>
          </p:nvSpPr>
          <p:spPr>
            <a:xfrm>
              <a:off x="231245" y="649077"/>
              <a:ext cx="1019693" cy="28443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4E17BC49-29A5-E0C0-781D-DD7E825593B3}"/>
                </a:ext>
              </a:extLst>
            </p:cNvPr>
            <p:cNvSpPr txBox="1"/>
            <p:nvPr/>
          </p:nvSpPr>
          <p:spPr>
            <a:xfrm>
              <a:off x="176484" y="637409"/>
              <a:ext cx="1263030" cy="3120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200" dirty="0">
                  <a:latin typeface="Kristen ITC" panose="03050502040202030202" pitchFamily="66" charset="0"/>
                </a:rPr>
                <a:t>CODING</a:t>
              </a:r>
            </a:p>
          </p:txBody>
        </p:sp>
      </p:grp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F93E4D13-C4BB-F1E9-2A08-77E11435FC0D}"/>
              </a:ext>
            </a:extLst>
          </p:cNvPr>
          <p:cNvCxnSpPr>
            <a:cxnSpLocks/>
          </p:cNvCxnSpPr>
          <p:nvPr/>
        </p:nvCxnSpPr>
        <p:spPr>
          <a:xfrm>
            <a:off x="3875005" y="3522445"/>
            <a:ext cx="0" cy="2488212"/>
          </a:xfrm>
          <a:prstGeom prst="straightConnector1">
            <a:avLst/>
          </a:prstGeom>
          <a:ln w="57150">
            <a:headEnd type="oval" w="med" len="med"/>
            <a:tailEnd type="oval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13" name="Group 12">
            <a:extLst>
              <a:ext uri="{FF2B5EF4-FFF2-40B4-BE49-F238E27FC236}">
                <a16:creationId xmlns:a16="http://schemas.microsoft.com/office/drawing/2014/main" id="{9C767BAB-5D35-1F98-BFB2-13EE20755179}"/>
              </a:ext>
            </a:extLst>
          </p:cNvPr>
          <p:cNvGrpSpPr/>
          <p:nvPr/>
        </p:nvGrpSpPr>
        <p:grpSpPr>
          <a:xfrm>
            <a:off x="1240091" y="1889130"/>
            <a:ext cx="2501248" cy="2258467"/>
            <a:chOff x="2055005" y="237786"/>
            <a:chExt cx="4445422" cy="3509450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E6E7BBC7-6E66-8DBE-D4BB-C1268814733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l="2422" t="18107" r="19524" b="2101"/>
            <a:stretch>
              <a:fillRect/>
            </a:stretch>
          </p:blipFill>
          <p:spPr>
            <a:xfrm rot="21056047">
              <a:off x="2274455" y="755707"/>
              <a:ext cx="2309090" cy="1269145"/>
            </a:xfrm>
            <a:prstGeom prst="rect">
              <a:avLst/>
            </a:prstGeom>
          </p:spPr>
        </p:pic>
        <p:pic>
          <p:nvPicPr>
            <p:cNvPr id="15" name="Picture 14" descr="Free laptop computer, Download Free laptop computer png images, Free ...">
              <a:extLst>
                <a:ext uri="{FF2B5EF4-FFF2-40B4-BE49-F238E27FC236}">
                  <a16:creationId xmlns:a16="http://schemas.microsoft.com/office/drawing/2014/main" id="{6E565A4F-22C5-D76E-A9EB-FE5274B0C9D3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6"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backgroundRemoval t="10000" b="90000" l="10000" r="90000"/>
                      </a14:imgEffect>
                      <a14:imgEffect>
                        <a14:sharpenSoften amount="50000"/>
                      </a14:imgEffect>
                      <a14:imgEffect>
                        <a14:colorTemperature colorTemp="4700"/>
                      </a14:imgEffect>
                      <a14:imgEffect>
                        <a14:saturation sat="0"/>
                      </a14:imgEffect>
                      <a14:imgEffect>
                        <a14:brightnessContrast bright="40000" contrast="-4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2315" t="19966" r="6958" b="16304"/>
            <a:stretch>
              <a:fillRect/>
            </a:stretch>
          </p:blipFill>
          <p:spPr bwMode="auto">
            <a:xfrm>
              <a:off x="2055005" y="237786"/>
              <a:ext cx="4445422" cy="350945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D76EBE9D-7A05-C5CB-5EFF-F72DB772495E}"/>
              </a:ext>
            </a:extLst>
          </p:cNvPr>
          <p:cNvSpPr txBox="1"/>
          <p:nvPr/>
        </p:nvSpPr>
        <p:spPr>
          <a:xfrm>
            <a:off x="4410580" y="3813965"/>
            <a:ext cx="5572014" cy="19632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i="1" dirty="0">
                <a:latin typeface="Grandview Display" panose="020B0502040204020203" pitchFamily="34" charset="0"/>
                <a:ea typeface="Microsoft JhengHei UI Light" panose="020B0304030504040204" pitchFamily="34" charset="-120"/>
              </a:rPr>
              <a:t>Session 2:</a:t>
            </a:r>
          </a:p>
          <a:p>
            <a:pPr algn="ctr"/>
            <a:r>
              <a:rPr lang="en-GB" sz="2800" b="1" dirty="0">
                <a:latin typeface="Grandview" panose="020B0502040204020203" pitchFamily="34" charset="0"/>
                <a:ea typeface="Microsoft JhengHei UI Light" panose="020B0304030504040204" pitchFamily="34" charset="-120"/>
              </a:rPr>
              <a:t>~ How to choose your AI ~</a:t>
            </a:r>
          </a:p>
          <a:p>
            <a:pPr algn="ctr"/>
            <a:r>
              <a:rPr lang="en-GB" sz="1919" dirty="0">
                <a:latin typeface="Grandview Display" panose="020B0502040204020203" pitchFamily="34" charset="0"/>
                <a:ea typeface="Microsoft JhengHei UI Light" panose="020B0304030504040204" pitchFamily="34" charset="-120"/>
              </a:rPr>
              <a:t>By</a:t>
            </a:r>
          </a:p>
          <a:p>
            <a:pPr algn="ctr"/>
            <a:r>
              <a:rPr lang="en-GB" sz="1919" dirty="0">
                <a:latin typeface="Grandview Display" panose="020B0502040204020203" pitchFamily="34" charset="0"/>
                <a:ea typeface="Microsoft JhengHei UI Light" panose="020B0304030504040204" pitchFamily="34" charset="-120"/>
              </a:rPr>
              <a:t>Caroline Daniel,</a:t>
            </a:r>
          </a:p>
          <a:p>
            <a:pPr algn="ctr"/>
            <a:r>
              <a:rPr lang="en-GB" sz="1919" dirty="0">
                <a:latin typeface="Grandview Display" panose="020B0502040204020203" pitchFamily="34" charset="0"/>
                <a:ea typeface="Microsoft JhengHei UI Light" panose="020B0304030504040204" pitchFamily="34" charset="-120"/>
              </a:rPr>
              <a:t>Postdoc at the IEE </a:t>
            </a:r>
          </a:p>
          <a:p>
            <a:pPr algn="ctr"/>
            <a:endParaRPr lang="en-GB" sz="800" i="1" dirty="0">
              <a:latin typeface="Grandview Display" panose="020B0502040204020203" pitchFamily="34" charset="0"/>
              <a:ea typeface="Microsoft JhengHei UI Light" panose="020B0304030504040204" pitchFamily="34" charset="-12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A1B20FB-E785-A614-91D7-4A13B0D10D67}"/>
              </a:ext>
            </a:extLst>
          </p:cNvPr>
          <p:cNvSpPr txBox="1"/>
          <p:nvPr/>
        </p:nvSpPr>
        <p:spPr>
          <a:xfrm>
            <a:off x="364419" y="1112757"/>
            <a:ext cx="549907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4000" dirty="0">
                <a:latin typeface="Modern Love" panose="04090805081005020601" pitchFamily="82" charset="0"/>
              </a:rPr>
              <a:t>Welcome to the…</a:t>
            </a:r>
          </a:p>
        </p:txBody>
      </p:sp>
    </p:spTree>
    <p:extLst>
      <p:ext uri="{BB962C8B-B14F-4D97-AF65-F5344CB8AC3E}">
        <p14:creationId xmlns:p14="http://schemas.microsoft.com/office/powerpoint/2010/main" val="3944231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49BB3246-9907-67E1-460F-F98B1F8BFE3C}"/>
              </a:ext>
            </a:extLst>
          </p:cNvPr>
          <p:cNvGrpSpPr/>
          <p:nvPr/>
        </p:nvGrpSpPr>
        <p:grpSpPr>
          <a:xfrm>
            <a:off x="1237647" y="709864"/>
            <a:ext cx="9716705" cy="5274643"/>
            <a:chOff x="543826" y="481264"/>
            <a:chExt cx="9716705" cy="5274643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57DAC23D-C4C3-37D0-5FFC-66B4E34F974F}"/>
                </a:ext>
              </a:extLst>
            </p:cNvPr>
            <p:cNvGrpSpPr/>
            <p:nvPr/>
          </p:nvGrpSpPr>
          <p:grpSpPr>
            <a:xfrm>
              <a:off x="543826" y="481264"/>
              <a:ext cx="9716705" cy="5274643"/>
              <a:chOff x="543826" y="481264"/>
              <a:chExt cx="9716705" cy="5274643"/>
            </a:xfrm>
          </p:grpSpPr>
          <p:sp>
            <p:nvSpPr>
              <p:cNvPr id="8" name="Rectangle: Rounded Corners 7">
                <a:extLst>
                  <a:ext uri="{FF2B5EF4-FFF2-40B4-BE49-F238E27FC236}">
                    <a16:creationId xmlns:a16="http://schemas.microsoft.com/office/drawing/2014/main" id="{AFD6AE55-628B-5A1A-85AF-27F399A8F668}"/>
                  </a:ext>
                </a:extLst>
              </p:cNvPr>
              <p:cNvSpPr/>
              <p:nvPr/>
            </p:nvSpPr>
            <p:spPr>
              <a:xfrm>
                <a:off x="543826" y="644893"/>
                <a:ext cx="9716705" cy="5111014"/>
              </a:xfrm>
              <a:prstGeom prst="round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pic>
            <p:nvPicPr>
              <p:cNvPr id="7" name="Graphic 6" descr="Daily calendar outline">
                <a:extLst>
                  <a:ext uri="{FF2B5EF4-FFF2-40B4-BE49-F238E27FC236}">
                    <a16:creationId xmlns:a16="http://schemas.microsoft.com/office/drawing/2014/main" id="{AAD617E5-939F-FF26-1E7C-43AFE474531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1337911" y="481264"/>
                <a:ext cx="914400" cy="914400"/>
              </a:xfrm>
              <a:prstGeom prst="rect">
                <a:avLst/>
              </a:prstGeom>
            </p:spPr>
          </p:pic>
        </p:grp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4EA547AD-80C5-866E-98DF-59D0CB14609A}"/>
                </a:ext>
              </a:extLst>
            </p:cNvPr>
            <p:cNvSpPr txBox="1"/>
            <p:nvPr/>
          </p:nvSpPr>
          <p:spPr>
            <a:xfrm>
              <a:off x="943276" y="1453415"/>
              <a:ext cx="9095874" cy="36933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b="1" strike="sngStrike" dirty="0">
                  <a:solidFill>
                    <a:schemeClr val="accent5">
                      <a:lumMod val="40000"/>
                      <a:lumOff val="60000"/>
                    </a:schemeClr>
                  </a:solidFill>
                </a:rPr>
                <a:t>Session 1:</a:t>
              </a:r>
              <a:r>
                <a:rPr lang="en-GB" strike="sngStrike" dirty="0">
                  <a:solidFill>
                    <a:schemeClr val="accent5">
                      <a:lumMod val="40000"/>
                      <a:lumOff val="60000"/>
                    </a:schemeClr>
                  </a:solidFill>
                </a:rPr>
                <a:t> AI introduction and building a personal code of conduct for AI use (February)</a:t>
              </a:r>
            </a:p>
            <a:p>
              <a:endParaRPr lang="en-GB" dirty="0"/>
            </a:p>
            <a:p>
              <a:endParaRPr lang="en-GB" dirty="0"/>
            </a:p>
            <a:p>
              <a:r>
                <a:rPr lang="en-GB" b="1" dirty="0"/>
                <a:t>Session 2:</a:t>
              </a:r>
              <a:r>
                <a:rPr lang="en-GB" dirty="0"/>
                <a:t> What type of AI is there? What’s their differences? (March)</a:t>
              </a:r>
            </a:p>
            <a:p>
              <a:endParaRPr lang="en-GB" dirty="0"/>
            </a:p>
            <a:p>
              <a:endParaRPr lang="en-GB" dirty="0"/>
            </a:p>
            <a:p>
              <a:r>
                <a:rPr lang="en-GB" b="1" dirty="0"/>
                <a:t>Session 3:</a:t>
              </a:r>
              <a:r>
                <a:rPr lang="en-GB" dirty="0"/>
                <a:t> Building your own AI tool (April)</a:t>
              </a:r>
            </a:p>
            <a:p>
              <a:endParaRPr lang="en-GB" dirty="0"/>
            </a:p>
            <a:p>
              <a:endParaRPr lang="en-GB" dirty="0"/>
            </a:p>
            <a:p>
              <a:r>
                <a:rPr lang="en-GB" b="1" dirty="0"/>
                <a:t>Session 4:</a:t>
              </a:r>
              <a:r>
                <a:rPr lang="en-GB" dirty="0"/>
                <a:t> Building your own AI tool (May)</a:t>
              </a:r>
            </a:p>
            <a:p>
              <a:endParaRPr lang="en-GB" dirty="0"/>
            </a:p>
            <a:p>
              <a:endParaRPr lang="en-GB" dirty="0"/>
            </a:p>
            <a:p>
              <a:r>
                <a:rPr lang="en-GB" b="1" dirty="0"/>
                <a:t>Session 5:</a:t>
              </a:r>
              <a:r>
                <a:rPr lang="en-GB" dirty="0"/>
                <a:t> Assignment, producing a R script made with the help of your AI tool (June)</a:t>
              </a:r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BFAB2353-20EE-CA1A-78FD-777BAC6C682A}"/>
              </a:ext>
            </a:extLst>
          </p:cNvPr>
          <p:cNvSpPr txBox="1"/>
          <p:nvPr/>
        </p:nvSpPr>
        <p:spPr>
          <a:xfrm>
            <a:off x="-1" y="-4460"/>
            <a:ext cx="934402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latin typeface="Gill Sans Nova" panose="020B0602020104020203" pitchFamily="34" charset="0"/>
                <a:ea typeface="Cambria" panose="02040503050406030204" pitchFamily="18" charset="0"/>
                <a:cs typeface="+mj-cs"/>
              </a:rPr>
              <a:t>R club, program and milestones</a:t>
            </a:r>
            <a:endParaRPr lang="en-US" sz="2000" b="1" dirty="0">
              <a:effectLst/>
              <a:latin typeface="Gill Sans Nova" panose="020B0602020104020203" pitchFamily="34" charset="0"/>
              <a:ea typeface="Cambria" panose="02040503050406030204" pitchFamily="18" charset="0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3906505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EA4055-87B7-E480-F987-B472C6ADC9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DD32517-041B-3BBC-E35C-8DFF3D9CBA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5464" y="68643"/>
            <a:ext cx="10081071" cy="672071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4EFCE13-89DF-1FF1-4E46-A8BB9EBC5EDE}"/>
              </a:ext>
            </a:extLst>
          </p:cNvPr>
          <p:cNvSpPr txBox="1"/>
          <p:nvPr/>
        </p:nvSpPr>
        <p:spPr>
          <a:xfrm>
            <a:off x="-1" y="-4460"/>
            <a:ext cx="934402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latin typeface="Gill Sans Nova" panose="020B0602020104020203" pitchFamily="34" charset="0"/>
                <a:ea typeface="Cambria" panose="02040503050406030204" pitchFamily="18" charset="0"/>
                <a:cs typeface="+mj-cs"/>
              </a:rPr>
              <a:t>LLMs - how does it works?</a:t>
            </a:r>
            <a:endParaRPr lang="en-US" sz="2000" b="1" dirty="0">
              <a:effectLst/>
              <a:latin typeface="Gill Sans Nova" panose="020B0602020104020203" pitchFamily="34" charset="0"/>
              <a:ea typeface="Cambria" panose="02040503050406030204" pitchFamily="18" charset="0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758529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C436A2-0ADF-F89F-2C45-FC6F349919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LLM Architecture">
            <a:extLst>
              <a:ext uri="{FF2B5EF4-FFF2-40B4-BE49-F238E27FC236}">
                <a16:creationId xmlns:a16="http://schemas.microsoft.com/office/drawing/2014/main" id="{9DD01FB8-EE51-3262-608E-8BE57E5135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02865" y="682181"/>
            <a:ext cx="5386270" cy="54936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7E63F122-25A1-CF42-85AB-500BCD40EE2A}"/>
              </a:ext>
            </a:extLst>
          </p:cNvPr>
          <p:cNvSpPr txBox="1"/>
          <p:nvPr/>
        </p:nvSpPr>
        <p:spPr>
          <a:xfrm>
            <a:off x="-1" y="-4460"/>
            <a:ext cx="934402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latin typeface="Gill Sans Nova" panose="020B0602020104020203" pitchFamily="34" charset="0"/>
                <a:ea typeface="Cambria" panose="02040503050406030204" pitchFamily="18" charset="0"/>
                <a:cs typeface="+mj-cs"/>
              </a:rPr>
              <a:t>LLMs - how does it works?</a:t>
            </a:r>
            <a:endParaRPr lang="en-US" sz="2000" b="1" dirty="0">
              <a:effectLst/>
              <a:latin typeface="Gill Sans Nova" panose="020B0602020104020203" pitchFamily="34" charset="0"/>
              <a:ea typeface="Cambria" panose="02040503050406030204" pitchFamily="18" charset="0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6290071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1C70BB5B-55FD-715E-088D-57FA0BD60D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84589"/>
            <a:ext cx="12192000" cy="408882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64612FF-858C-D87D-CB8D-795151949330}"/>
              </a:ext>
            </a:extLst>
          </p:cNvPr>
          <p:cNvSpPr txBox="1"/>
          <p:nvPr/>
        </p:nvSpPr>
        <p:spPr>
          <a:xfrm>
            <a:off x="-1" y="-4460"/>
            <a:ext cx="934402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latin typeface="Gill Sans Nova" panose="020B0602020104020203" pitchFamily="34" charset="0"/>
                <a:ea typeface="Cambria" panose="02040503050406030204" pitchFamily="18" charset="0"/>
                <a:cs typeface="+mj-cs"/>
              </a:rPr>
              <a:t>Who is the best coder?</a:t>
            </a:r>
            <a:endParaRPr lang="en-US" sz="2000" b="1" dirty="0">
              <a:effectLst/>
              <a:latin typeface="Gill Sans Nova" panose="020B0602020104020203" pitchFamily="34" charset="0"/>
              <a:ea typeface="Cambria" panose="02040503050406030204" pitchFamily="18" charset="0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242747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EC160F-1172-66B9-4DCA-A0F7346F60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9ADD683-1EA5-AA0D-C9C5-EF9B481096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84589"/>
            <a:ext cx="12192000" cy="408882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6F46531-D4A0-9240-A74F-DED91707C66A}"/>
              </a:ext>
            </a:extLst>
          </p:cNvPr>
          <p:cNvSpPr txBox="1"/>
          <p:nvPr/>
        </p:nvSpPr>
        <p:spPr>
          <a:xfrm>
            <a:off x="-1" y="-4460"/>
            <a:ext cx="934402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latin typeface="Gill Sans Nova" panose="020B0602020104020203" pitchFamily="34" charset="0"/>
                <a:ea typeface="Cambria" panose="02040503050406030204" pitchFamily="18" charset="0"/>
                <a:cs typeface="+mj-cs"/>
              </a:rPr>
              <a:t>Who is the best coder?</a:t>
            </a:r>
            <a:endParaRPr lang="en-US" sz="2000" b="1" dirty="0">
              <a:effectLst/>
              <a:latin typeface="Gill Sans Nova" panose="020B0602020104020203" pitchFamily="34" charset="0"/>
              <a:ea typeface="Cambria" panose="02040503050406030204" pitchFamily="18" charset="0"/>
              <a:cs typeface="+mj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BEFF130-C436-66DF-EC99-6CDEB1B5B330}"/>
              </a:ext>
            </a:extLst>
          </p:cNvPr>
          <p:cNvSpPr txBox="1"/>
          <p:nvPr/>
        </p:nvSpPr>
        <p:spPr>
          <a:xfrm>
            <a:off x="7114032" y="3059668"/>
            <a:ext cx="47823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… bur for nearly all of these, you need to pay!</a:t>
            </a:r>
          </a:p>
        </p:txBody>
      </p:sp>
      <p:pic>
        <p:nvPicPr>
          <p:cNvPr id="5" name="Graphic 4" descr="Arrow: Slight curve with solid fill">
            <a:extLst>
              <a:ext uri="{FF2B5EF4-FFF2-40B4-BE49-F238E27FC236}">
                <a16:creationId xmlns:a16="http://schemas.microsoft.com/office/drawing/2014/main" id="{17AEA8CB-633A-69BA-BBEC-D5DB4532F9E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82833" y="2930310"/>
            <a:ext cx="762000" cy="628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01044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6788D3-E75B-814F-595F-8031CFB902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B3E205F-D245-3268-6824-51CFE0C13C56}"/>
              </a:ext>
            </a:extLst>
          </p:cNvPr>
          <p:cNvSpPr txBox="1"/>
          <p:nvPr/>
        </p:nvSpPr>
        <p:spPr>
          <a:xfrm>
            <a:off x="-1" y="-4460"/>
            <a:ext cx="934402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latin typeface="Gill Sans Nova" panose="020B0602020104020203" pitchFamily="34" charset="0"/>
                <a:ea typeface="Cambria" panose="02040503050406030204" pitchFamily="18" charset="0"/>
                <a:cs typeface="+mj-cs"/>
              </a:rPr>
              <a:t>What are our free options?</a:t>
            </a:r>
            <a:endParaRPr lang="en-US" sz="2000" b="1" dirty="0">
              <a:effectLst/>
              <a:latin typeface="Gill Sans Nova" panose="020B0602020104020203" pitchFamily="34" charset="0"/>
              <a:ea typeface="Cambria" panose="02040503050406030204" pitchFamily="18" charset="0"/>
              <a:cs typeface="+mj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FAF11A6-8E0F-A62D-AE50-F94484F5A3C4}"/>
              </a:ext>
            </a:extLst>
          </p:cNvPr>
          <p:cNvSpPr txBox="1"/>
          <p:nvPr/>
        </p:nvSpPr>
        <p:spPr>
          <a:xfrm>
            <a:off x="0" y="640080"/>
            <a:ext cx="18774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1. Github Copilot</a:t>
            </a:r>
          </a:p>
        </p:txBody>
      </p:sp>
    </p:spTree>
    <p:extLst>
      <p:ext uri="{BB962C8B-B14F-4D97-AF65-F5344CB8AC3E}">
        <p14:creationId xmlns:p14="http://schemas.microsoft.com/office/powerpoint/2010/main" val="7776622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D1CDE0-02F6-BD59-204B-13D1CC0329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3858D2C-6189-F4A4-6B19-5ECBE16304B5}"/>
              </a:ext>
            </a:extLst>
          </p:cNvPr>
          <p:cNvSpPr txBox="1"/>
          <p:nvPr/>
        </p:nvSpPr>
        <p:spPr>
          <a:xfrm>
            <a:off x="-1" y="-4460"/>
            <a:ext cx="934402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latin typeface="Gill Sans Nova" panose="020B0602020104020203" pitchFamily="34" charset="0"/>
                <a:ea typeface="Cambria" panose="02040503050406030204" pitchFamily="18" charset="0"/>
                <a:cs typeface="+mj-cs"/>
              </a:rPr>
              <a:t>What are our free options?</a:t>
            </a:r>
            <a:endParaRPr lang="en-US" sz="2000" b="1" dirty="0">
              <a:effectLst/>
              <a:latin typeface="Gill Sans Nova" panose="020B0602020104020203" pitchFamily="34" charset="0"/>
              <a:ea typeface="Cambria" panose="02040503050406030204" pitchFamily="18" charset="0"/>
              <a:cs typeface="+mj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C80374D-8E58-5D23-66E0-158BDB4E393A}"/>
              </a:ext>
            </a:extLst>
          </p:cNvPr>
          <p:cNvSpPr txBox="1"/>
          <p:nvPr/>
        </p:nvSpPr>
        <p:spPr>
          <a:xfrm>
            <a:off x="0" y="640080"/>
            <a:ext cx="18774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1. Github Copilot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76986258-1568-DFB6-BA4B-6824AAC595C6}"/>
              </a:ext>
            </a:extLst>
          </p:cNvPr>
          <p:cNvGrpSpPr/>
          <p:nvPr/>
        </p:nvGrpSpPr>
        <p:grpSpPr>
          <a:xfrm>
            <a:off x="770021" y="1323886"/>
            <a:ext cx="10318282" cy="4532842"/>
            <a:chOff x="770021" y="1323886"/>
            <a:chExt cx="10318282" cy="4532842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47964A66-D775-3CC1-1564-9CB95A5B459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70021" y="1323886"/>
              <a:ext cx="10318282" cy="4532842"/>
            </a:xfrm>
            <a:prstGeom prst="rect">
              <a:avLst/>
            </a:prstGeom>
          </p:spPr>
        </p:pic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3E042B91-AE6C-616C-C585-CFA29B8B618D}"/>
                </a:ext>
              </a:extLst>
            </p:cNvPr>
            <p:cNvSpPr/>
            <p:nvPr/>
          </p:nvSpPr>
          <p:spPr>
            <a:xfrm>
              <a:off x="1444752" y="1353312"/>
              <a:ext cx="2020824" cy="228600"/>
            </a:xfrm>
            <a:prstGeom prst="rect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5C8CD046-79EA-3B1D-1E23-B46568FA43E0}"/>
                </a:ext>
              </a:extLst>
            </p:cNvPr>
            <p:cNvSpPr/>
            <p:nvPr/>
          </p:nvSpPr>
          <p:spPr>
            <a:xfrm>
              <a:off x="867025" y="1337018"/>
              <a:ext cx="577727" cy="519214"/>
            </a:xfrm>
            <a:prstGeom prst="rect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7D30C4BB-B493-8B9A-E81C-95C775D18B1A}"/>
                </a:ext>
              </a:extLst>
            </p:cNvPr>
            <p:cNvSpPr/>
            <p:nvPr/>
          </p:nvSpPr>
          <p:spPr>
            <a:xfrm>
              <a:off x="3465576" y="5458968"/>
              <a:ext cx="7461504" cy="360807"/>
            </a:xfrm>
            <a:prstGeom prst="rect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28824341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430CF7-8534-6703-FE12-4167503F39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2583845-D916-8E6E-2FBA-AF2983B98C04}"/>
              </a:ext>
            </a:extLst>
          </p:cNvPr>
          <p:cNvSpPr txBox="1"/>
          <p:nvPr/>
        </p:nvSpPr>
        <p:spPr>
          <a:xfrm>
            <a:off x="-1" y="-4460"/>
            <a:ext cx="934402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latin typeface="Gill Sans Nova" panose="020B0602020104020203" pitchFamily="34" charset="0"/>
                <a:ea typeface="Cambria" panose="02040503050406030204" pitchFamily="18" charset="0"/>
                <a:cs typeface="+mj-cs"/>
              </a:rPr>
              <a:t>What are our free options?</a:t>
            </a:r>
            <a:endParaRPr lang="en-US" sz="2000" b="1" dirty="0">
              <a:effectLst/>
              <a:latin typeface="Gill Sans Nova" panose="020B0602020104020203" pitchFamily="34" charset="0"/>
              <a:ea typeface="Cambria" panose="02040503050406030204" pitchFamily="18" charset="0"/>
              <a:cs typeface="+mj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2243733-BB4B-8849-A377-52268A50750B}"/>
              </a:ext>
            </a:extLst>
          </p:cNvPr>
          <p:cNvSpPr txBox="1"/>
          <p:nvPr/>
        </p:nvSpPr>
        <p:spPr>
          <a:xfrm>
            <a:off x="0" y="640080"/>
            <a:ext cx="18774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1. Github Copilot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C0146640-529A-66E8-5D43-BEDEDDDD885D}"/>
              </a:ext>
            </a:extLst>
          </p:cNvPr>
          <p:cNvGrpSpPr/>
          <p:nvPr/>
        </p:nvGrpSpPr>
        <p:grpSpPr>
          <a:xfrm>
            <a:off x="770021" y="1323886"/>
            <a:ext cx="10318282" cy="4532842"/>
            <a:chOff x="770021" y="1323886"/>
            <a:chExt cx="10318282" cy="4532842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A7A27272-6442-3A69-E53F-17079695F4F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70021" y="1323886"/>
              <a:ext cx="10318282" cy="4532842"/>
            </a:xfrm>
            <a:prstGeom prst="rect">
              <a:avLst/>
            </a:prstGeom>
          </p:spPr>
        </p:pic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CF488DB2-D229-B4CE-A878-F30A351386A9}"/>
                </a:ext>
              </a:extLst>
            </p:cNvPr>
            <p:cNvSpPr/>
            <p:nvPr/>
          </p:nvSpPr>
          <p:spPr>
            <a:xfrm>
              <a:off x="1444752" y="1353312"/>
              <a:ext cx="2020824" cy="228600"/>
            </a:xfrm>
            <a:prstGeom prst="rect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F1D9E282-B6B6-CE96-0FC2-8D998E3FB47A}"/>
                </a:ext>
              </a:extLst>
            </p:cNvPr>
            <p:cNvSpPr/>
            <p:nvPr/>
          </p:nvSpPr>
          <p:spPr>
            <a:xfrm>
              <a:off x="867025" y="1337018"/>
              <a:ext cx="577727" cy="519214"/>
            </a:xfrm>
            <a:prstGeom prst="rect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29424F36-9F76-41A4-4F2F-23F0B0BBC560}"/>
                </a:ext>
              </a:extLst>
            </p:cNvPr>
            <p:cNvSpPr/>
            <p:nvPr/>
          </p:nvSpPr>
          <p:spPr>
            <a:xfrm>
              <a:off x="3465576" y="5458968"/>
              <a:ext cx="7461504" cy="360807"/>
            </a:xfrm>
            <a:prstGeom prst="rect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11" name="Rectangle 10">
            <a:extLst>
              <a:ext uri="{FF2B5EF4-FFF2-40B4-BE49-F238E27FC236}">
                <a16:creationId xmlns:a16="http://schemas.microsoft.com/office/drawing/2014/main" id="{EF89C4BB-9453-B3A9-7EB4-E4E01B9D518F}"/>
              </a:ext>
            </a:extLst>
          </p:cNvPr>
          <p:cNvSpPr/>
          <p:nvPr/>
        </p:nvSpPr>
        <p:spPr>
          <a:xfrm>
            <a:off x="9473184" y="4965193"/>
            <a:ext cx="1335024" cy="38404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608889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BF141E-9318-BF51-5EEA-D9F060BD08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7977947-2691-A2E0-5228-E434DDD8F322}"/>
              </a:ext>
            </a:extLst>
          </p:cNvPr>
          <p:cNvSpPr txBox="1"/>
          <p:nvPr/>
        </p:nvSpPr>
        <p:spPr>
          <a:xfrm>
            <a:off x="-1" y="-4460"/>
            <a:ext cx="934402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latin typeface="Gill Sans Nova" panose="020B0602020104020203" pitchFamily="34" charset="0"/>
                <a:ea typeface="Cambria" panose="02040503050406030204" pitchFamily="18" charset="0"/>
                <a:cs typeface="+mj-cs"/>
              </a:rPr>
              <a:t>What are our free options?</a:t>
            </a:r>
            <a:endParaRPr lang="en-US" sz="2000" b="1" dirty="0">
              <a:effectLst/>
              <a:latin typeface="Gill Sans Nova" panose="020B0602020104020203" pitchFamily="34" charset="0"/>
              <a:ea typeface="Cambria" panose="02040503050406030204" pitchFamily="18" charset="0"/>
              <a:cs typeface="+mj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5CAAA60-A7CC-8D12-3BFE-83A1B0276EDE}"/>
              </a:ext>
            </a:extLst>
          </p:cNvPr>
          <p:cNvSpPr txBox="1"/>
          <p:nvPr/>
        </p:nvSpPr>
        <p:spPr>
          <a:xfrm>
            <a:off x="-1" y="1009412"/>
            <a:ext cx="17596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2. Local models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1580362-E20F-92AA-153B-3597755BFFCC}"/>
              </a:ext>
            </a:extLst>
          </p:cNvPr>
          <p:cNvSpPr txBox="1"/>
          <p:nvPr/>
        </p:nvSpPr>
        <p:spPr>
          <a:xfrm>
            <a:off x="0" y="640080"/>
            <a:ext cx="18774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bg1">
                    <a:lumMod val="95000"/>
                  </a:schemeClr>
                </a:solidFill>
              </a:rPr>
              <a:t>1. Github Copilot</a:t>
            </a:r>
          </a:p>
        </p:txBody>
      </p:sp>
    </p:spTree>
    <p:extLst>
      <p:ext uri="{BB962C8B-B14F-4D97-AF65-F5344CB8AC3E}">
        <p14:creationId xmlns:p14="http://schemas.microsoft.com/office/powerpoint/2010/main" val="30916914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E1F297-7C3F-376F-558D-7675994481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F0F3564-D9BF-D27A-3F16-1F0BC144E226}"/>
              </a:ext>
            </a:extLst>
          </p:cNvPr>
          <p:cNvSpPr txBox="1"/>
          <p:nvPr/>
        </p:nvSpPr>
        <p:spPr>
          <a:xfrm>
            <a:off x="-1" y="-4460"/>
            <a:ext cx="934402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latin typeface="Gill Sans Nova" panose="020B0602020104020203" pitchFamily="34" charset="0"/>
                <a:ea typeface="Cambria" panose="02040503050406030204" pitchFamily="18" charset="0"/>
                <a:cs typeface="+mj-cs"/>
              </a:rPr>
              <a:t>What are our free options?</a:t>
            </a:r>
            <a:endParaRPr lang="en-US" sz="2000" b="1" dirty="0">
              <a:effectLst/>
              <a:latin typeface="Gill Sans Nova" panose="020B0602020104020203" pitchFamily="34" charset="0"/>
              <a:ea typeface="Cambria" panose="02040503050406030204" pitchFamily="18" charset="0"/>
              <a:cs typeface="+mj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65D990C-F08C-767C-2B5C-563C7F828304}"/>
              </a:ext>
            </a:extLst>
          </p:cNvPr>
          <p:cNvSpPr txBox="1"/>
          <p:nvPr/>
        </p:nvSpPr>
        <p:spPr>
          <a:xfrm>
            <a:off x="-1" y="1009412"/>
            <a:ext cx="17596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2. Local models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C25170C-797A-4E44-539A-65E320F2CC2C}"/>
              </a:ext>
            </a:extLst>
          </p:cNvPr>
          <p:cNvSpPr txBox="1"/>
          <p:nvPr/>
        </p:nvSpPr>
        <p:spPr>
          <a:xfrm>
            <a:off x="0" y="640080"/>
            <a:ext cx="18774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bg1">
                    <a:lumMod val="95000"/>
                  </a:schemeClr>
                </a:solidFill>
              </a:rPr>
              <a:t>1. Github Copilot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528CDDD-1F5D-8BED-CF46-5AF78E6E6E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9119" y="1764242"/>
            <a:ext cx="7673762" cy="427079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B77A30B-E13D-F74E-FE0C-22B2CF296E70}"/>
              </a:ext>
            </a:extLst>
          </p:cNvPr>
          <p:cNvSpPr txBox="1"/>
          <p:nvPr/>
        </p:nvSpPr>
        <p:spPr>
          <a:xfrm>
            <a:off x="2182367" y="1481852"/>
            <a:ext cx="253389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600" i="1" dirty="0"/>
              <a:t>Step 1: install the interface</a:t>
            </a:r>
          </a:p>
        </p:txBody>
      </p:sp>
    </p:spTree>
    <p:extLst>
      <p:ext uri="{BB962C8B-B14F-4D97-AF65-F5344CB8AC3E}">
        <p14:creationId xmlns:p14="http://schemas.microsoft.com/office/powerpoint/2010/main" val="23319819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0EAC14-759F-13A0-6708-8C0FCE28D7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B1BD16C-A0DA-44DB-461F-1151D5C91212}"/>
              </a:ext>
            </a:extLst>
          </p:cNvPr>
          <p:cNvSpPr txBox="1"/>
          <p:nvPr/>
        </p:nvSpPr>
        <p:spPr>
          <a:xfrm>
            <a:off x="-1" y="-4460"/>
            <a:ext cx="934402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latin typeface="Gill Sans Nova" panose="020B0602020104020203" pitchFamily="34" charset="0"/>
                <a:ea typeface="Cambria" panose="02040503050406030204" pitchFamily="18" charset="0"/>
                <a:cs typeface="+mj-cs"/>
              </a:rPr>
              <a:t>What are our free options?</a:t>
            </a:r>
            <a:endParaRPr lang="en-US" sz="2000" b="1" dirty="0">
              <a:effectLst/>
              <a:latin typeface="Gill Sans Nova" panose="020B0602020104020203" pitchFamily="34" charset="0"/>
              <a:ea typeface="Cambria" panose="02040503050406030204" pitchFamily="18" charset="0"/>
              <a:cs typeface="+mj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33E4ED3-BB94-17C0-00C2-EB8817418505}"/>
              </a:ext>
            </a:extLst>
          </p:cNvPr>
          <p:cNvSpPr txBox="1"/>
          <p:nvPr/>
        </p:nvSpPr>
        <p:spPr>
          <a:xfrm>
            <a:off x="-1" y="1009412"/>
            <a:ext cx="17596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2. Local models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01BEFBD-F1D7-D169-5E49-330C6C2D318A}"/>
              </a:ext>
            </a:extLst>
          </p:cNvPr>
          <p:cNvSpPr txBox="1"/>
          <p:nvPr/>
        </p:nvSpPr>
        <p:spPr>
          <a:xfrm>
            <a:off x="0" y="640080"/>
            <a:ext cx="18774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bg1">
                    <a:lumMod val="95000"/>
                  </a:schemeClr>
                </a:solidFill>
              </a:rPr>
              <a:t>1. Github Copilot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4D4982CD-3DB7-7ADD-5589-7F0016A5B2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0031" y="2091719"/>
            <a:ext cx="8631937" cy="232708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53FA8A6-3333-C4A3-D9DB-E93DD36FE341}"/>
              </a:ext>
            </a:extLst>
          </p:cNvPr>
          <p:cNvSpPr txBox="1"/>
          <p:nvPr/>
        </p:nvSpPr>
        <p:spPr>
          <a:xfrm>
            <a:off x="1706879" y="1805772"/>
            <a:ext cx="579735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600" i="1" dirty="0"/>
              <a:t>Step 2: pick your team of free models, one for each specific task</a:t>
            </a:r>
          </a:p>
        </p:txBody>
      </p:sp>
    </p:spTree>
    <p:extLst>
      <p:ext uri="{BB962C8B-B14F-4D97-AF65-F5344CB8AC3E}">
        <p14:creationId xmlns:p14="http://schemas.microsoft.com/office/powerpoint/2010/main" val="15960480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CDCEA7-0653-27E3-B21B-F92CB3EB64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ECD387C-8F39-A719-4479-0D3E97BFACF4}"/>
              </a:ext>
            </a:extLst>
          </p:cNvPr>
          <p:cNvSpPr txBox="1"/>
          <p:nvPr/>
        </p:nvSpPr>
        <p:spPr>
          <a:xfrm>
            <a:off x="-1" y="-4460"/>
            <a:ext cx="934402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latin typeface="Gill Sans Nova" panose="020B0602020104020203" pitchFamily="34" charset="0"/>
                <a:ea typeface="Cambria" panose="02040503050406030204" pitchFamily="18" charset="0"/>
                <a:cs typeface="+mj-cs"/>
              </a:rPr>
              <a:t>What are our free options?</a:t>
            </a:r>
            <a:endParaRPr lang="en-US" sz="2000" b="1" dirty="0">
              <a:effectLst/>
              <a:latin typeface="Gill Sans Nova" panose="020B0602020104020203" pitchFamily="34" charset="0"/>
              <a:ea typeface="Cambria" panose="02040503050406030204" pitchFamily="18" charset="0"/>
              <a:cs typeface="+mj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14BDD08-6145-2336-0BD0-9A8260DD9725}"/>
              </a:ext>
            </a:extLst>
          </p:cNvPr>
          <p:cNvSpPr txBox="1"/>
          <p:nvPr/>
        </p:nvSpPr>
        <p:spPr>
          <a:xfrm>
            <a:off x="-1" y="1009412"/>
            <a:ext cx="17596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2. Local models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DE4E97F-F9EC-3843-991C-B9056228C615}"/>
              </a:ext>
            </a:extLst>
          </p:cNvPr>
          <p:cNvSpPr txBox="1"/>
          <p:nvPr/>
        </p:nvSpPr>
        <p:spPr>
          <a:xfrm>
            <a:off x="0" y="640080"/>
            <a:ext cx="18774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bg1">
                    <a:lumMod val="95000"/>
                  </a:schemeClr>
                </a:solidFill>
              </a:rPr>
              <a:t>1. Github Copilot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A65AED61-EA1E-F2C9-58EF-AE28576BF3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4904" y="2080980"/>
            <a:ext cx="10139688" cy="157900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619DDF2-CB41-EFB7-8DEF-01BB0553B5E2}"/>
              </a:ext>
            </a:extLst>
          </p:cNvPr>
          <p:cNvSpPr txBox="1"/>
          <p:nvPr/>
        </p:nvSpPr>
        <p:spPr>
          <a:xfrm>
            <a:off x="1436616" y="1793796"/>
            <a:ext cx="949118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600" i="1" dirty="0"/>
              <a:t>Step 3: embed it in R, with a nice package: make your queries directly in R and use functions to customise!</a:t>
            </a:r>
          </a:p>
        </p:txBody>
      </p:sp>
    </p:spTree>
    <p:extLst>
      <p:ext uri="{BB962C8B-B14F-4D97-AF65-F5344CB8AC3E}">
        <p14:creationId xmlns:p14="http://schemas.microsoft.com/office/powerpoint/2010/main" val="39719030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459D4B-8D97-EFD0-B50B-499B0F5587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FC36249-1542-74E2-6E72-2D973D8DB463}"/>
              </a:ext>
            </a:extLst>
          </p:cNvPr>
          <p:cNvSpPr txBox="1"/>
          <p:nvPr/>
        </p:nvSpPr>
        <p:spPr>
          <a:xfrm>
            <a:off x="-1" y="-4460"/>
            <a:ext cx="934402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latin typeface="Gill Sans Nova" panose="020B0602020104020203" pitchFamily="34" charset="0"/>
                <a:ea typeface="Cambria" panose="02040503050406030204" pitchFamily="18" charset="0"/>
                <a:cs typeface="+mj-cs"/>
              </a:rPr>
              <a:t>What are our free options?</a:t>
            </a:r>
            <a:endParaRPr lang="en-US" sz="2000" b="1" dirty="0">
              <a:effectLst/>
              <a:latin typeface="Gill Sans Nova" panose="020B0602020104020203" pitchFamily="34" charset="0"/>
              <a:ea typeface="Cambria" panose="02040503050406030204" pitchFamily="18" charset="0"/>
              <a:cs typeface="+mj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F18205F-6432-B7DA-69B3-B3119EED5E53}"/>
              </a:ext>
            </a:extLst>
          </p:cNvPr>
          <p:cNvSpPr txBox="1"/>
          <p:nvPr/>
        </p:nvSpPr>
        <p:spPr>
          <a:xfrm>
            <a:off x="-1" y="1009412"/>
            <a:ext cx="17596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2. Local models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0556-1F90-101D-D3C9-0C771B837456}"/>
              </a:ext>
            </a:extLst>
          </p:cNvPr>
          <p:cNvSpPr txBox="1"/>
          <p:nvPr/>
        </p:nvSpPr>
        <p:spPr>
          <a:xfrm>
            <a:off x="0" y="640080"/>
            <a:ext cx="18774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bg1">
                    <a:lumMod val="95000"/>
                  </a:schemeClr>
                </a:solidFill>
              </a:rPr>
              <a:t>1. Github Copilot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B774C2BA-5B03-089D-B672-BCC185CA099B}"/>
              </a:ext>
            </a:extLst>
          </p:cNvPr>
          <p:cNvGrpSpPr/>
          <p:nvPr/>
        </p:nvGrpSpPr>
        <p:grpSpPr>
          <a:xfrm>
            <a:off x="1454904" y="2080980"/>
            <a:ext cx="10139688" cy="1579008"/>
            <a:chOff x="-715788" y="3719870"/>
            <a:chExt cx="12050807" cy="1810003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BB4B6A29-B759-95E9-0E7C-6A8C9D692A3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-715788" y="3719870"/>
              <a:ext cx="12050807" cy="1810003"/>
            </a:xfrm>
            <a:prstGeom prst="rect">
              <a:avLst/>
            </a:prstGeom>
          </p:spPr>
        </p:pic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6059EC83-429A-E7FD-114A-DA583E85361D}"/>
                </a:ext>
              </a:extLst>
            </p:cNvPr>
            <p:cNvSpPr/>
            <p:nvPr/>
          </p:nvSpPr>
          <p:spPr>
            <a:xfrm>
              <a:off x="-198598" y="5271403"/>
              <a:ext cx="1958245" cy="187565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54A47088-EA05-0366-8F61-02044BA38CF1}"/>
              </a:ext>
            </a:extLst>
          </p:cNvPr>
          <p:cNvSpPr txBox="1"/>
          <p:nvPr/>
        </p:nvSpPr>
        <p:spPr>
          <a:xfrm>
            <a:off x="1436616" y="1793796"/>
            <a:ext cx="949118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600" i="1" dirty="0"/>
              <a:t>Step 3: embed it in R, with a nice package: make your queries directly in R and use functions to customise!</a:t>
            </a:r>
          </a:p>
        </p:txBody>
      </p:sp>
    </p:spTree>
    <p:extLst>
      <p:ext uri="{BB962C8B-B14F-4D97-AF65-F5344CB8AC3E}">
        <p14:creationId xmlns:p14="http://schemas.microsoft.com/office/powerpoint/2010/main" val="306288597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00B9CEC-57D8-5DB3-52EB-D9CE2A32C89D}"/>
              </a:ext>
            </a:extLst>
          </p:cNvPr>
          <p:cNvSpPr txBox="1"/>
          <p:nvPr/>
        </p:nvSpPr>
        <p:spPr>
          <a:xfrm>
            <a:off x="-1" y="-4460"/>
            <a:ext cx="934402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latin typeface="Gill Sans Nova" panose="020B0602020104020203" pitchFamily="34" charset="0"/>
                <a:ea typeface="Cambria" panose="02040503050406030204" pitchFamily="18" charset="0"/>
                <a:cs typeface="+mj-cs"/>
              </a:rPr>
              <a:t>Conclusions</a:t>
            </a:r>
            <a:endParaRPr lang="en-US" sz="2000" b="1" dirty="0">
              <a:effectLst/>
              <a:latin typeface="Gill Sans Nova" panose="020B0602020104020203" pitchFamily="34" charset="0"/>
              <a:ea typeface="Cambria" panose="02040503050406030204" pitchFamily="18" charset="0"/>
              <a:cs typeface="+mj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110CC9D-9A98-B5B1-8018-092A16C92FA9}"/>
              </a:ext>
            </a:extLst>
          </p:cNvPr>
          <p:cNvSpPr txBox="1"/>
          <p:nvPr/>
        </p:nvSpPr>
        <p:spPr>
          <a:xfrm>
            <a:off x="448056" y="960120"/>
            <a:ext cx="10899647" cy="1298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GB" dirty="0"/>
              <a:t>For now, we can still focus on one of the free options, but as progress will be made with LLMs, it may become difficult to ignore the price</a:t>
            </a:r>
          </a:p>
          <a:p>
            <a:pPr>
              <a:lnSpc>
                <a:spcPct val="150000"/>
              </a:lnSpc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8516094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0CA2EC-7C77-6B0B-336B-CA1F814B24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7119311-DD0A-2E30-BD21-25827AD993ED}"/>
              </a:ext>
            </a:extLst>
          </p:cNvPr>
          <p:cNvSpPr txBox="1"/>
          <p:nvPr/>
        </p:nvSpPr>
        <p:spPr>
          <a:xfrm>
            <a:off x="-1" y="-4460"/>
            <a:ext cx="934402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latin typeface="Gill Sans Nova" panose="020B0602020104020203" pitchFamily="34" charset="0"/>
                <a:ea typeface="Cambria" panose="02040503050406030204" pitchFamily="18" charset="0"/>
                <a:cs typeface="+mj-cs"/>
              </a:rPr>
              <a:t>Conclusions</a:t>
            </a:r>
            <a:endParaRPr lang="en-US" sz="2000" b="1" dirty="0">
              <a:effectLst/>
              <a:latin typeface="Gill Sans Nova" panose="020B0602020104020203" pitchFamily="34" charset="0"/>
              <a:ea typeface="Cambria" panose="02040503050406030204" pitchFamily="18" charset="0"/>
              <a:cs typeface="+mj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43B340E-11A6-0FC5-7893-BB345E6A4EA9}"/>
              </a:ext>
            </a:extLst>
          </p:cNvPr>
          <p:cNvSpPr txBox="1"/>
          <p:nvPr/>
        </p:nvSpPr>
        <p:spPr>
          <a:xfrm>
            <a:off x="448056" y="960120"/>
            <a:ext cx="10899647" cy="25453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GB" dirty="0"/>
              <a:t>For now, we can still focus on one of the free options, but as progress will be made with LLMs, it may become difficult to ignore the price</a:t>
            </a:r>
          </a:p>
          <a:p>
            <a:pPr>
              <a:lnSpc>
                <a:spcPct val="150000"/>
              </a:lnSpc>
            </a:pPr>
            <a:endParaRPr lang="en-GB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GB" dirty="0"/>
              <a:t>But some LLMs are made with the idea to be more open access and more transparent (like Mistral for example)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6536507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3AD937-9937-F767-550B-8E1E18C855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876D36C-0810-F597-24AB-B792F9996F4A}"/>
              </a:ext>
            </a:extLst>
          </p:cNvPr>
          <p:cNvSpPr txBox="1"/>
          <p:nvPr/>
        </p:nvSpPr>
        <p:spPr>
          <a:xfrm>
            <a:off x="-1" y="-4460"/>
            <a:ext cx="934402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latin typeface="Gill Sans Nova" panose="020B0602020104020203" pitchFamily="34" charset="0"/>
                <a:ea typeface="Cambria" panose="02040503050406030204" pitchFamily="18" charset="0"/>
                <a:cs typeface="+mj-cs"/>
              </a:rPr>
              <a:t>Conclusions</a:t>
            </a:r>
            <a:endParaRPr lang="en-US" sz="2000" b="1" dirty="0">
              <a:effectLst/>
              <a:latin typeface="Gill Sans Nova" panose="020B0602020104020203" pitchFamily="34" charset="0"/>
              <a:ea typeface="Cambria" panose="02040503050406030204" pitchFamily="18" charset="0"/>
              <a:cs typeface="+mj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77B1734-2234-724D-50F9-A0B5248ED111}"/>
              </a:ext>
            </a:extLst>
          </p:cNvPr>
          <p:cNvSpPr txBox="1"/>
          <p:nvPr/>
        </p:nvSpPr>
        <p:spPr>
          <a:xfrm>
            <a:off x="448056" y="960120"/>
            <a:ext cx="10899647" cy="37918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GB" dirty="0"/>
              <a:t>For now, we can still focus on one of the free options, but as progress will be made with LLMs, it may become difficult to ignore the price</a:t>
            </a:r>
          </a:p>
          <a:p>
            <a:pPr>
              <a:lnSpc>
                <a:spcPct val="150000"/>
              </a:lnSpc>
            </a:pPr>
            <a:endParaRPr lang="en-GB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GB" dirty="0"/>
              <a:t>But some LLMs are made with the idea to be more open access and more transparent (like Mistral for example)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GB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GB" dirty="0"/>
              <a:t>I think we can aim to set up a “hybrid” LLM practice, where we use smaller models and targeted instructions 80% of the time, with a possible back-up from larger LLMs if necessary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0352708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F89F24-871C-CD14-62BF-CE4B6421B6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9D258D5-FD21-5A7B-342D-7886CB6BCA0F}"/>
              </a:ext>
            </a:extLst>
          </p:cNvPr>
          <p:cNvSpPr txBox="1"/>
          <p:nvPr/>
        </p:nvSpPr>
        <p:spPr>
          <a:xfrm>
            <a:off x="-1" y="-4460"/>
            <a:ext cx="934402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latin typeface="Gill Sans Nova" panose="020B0602020104020203" pitchFamily="34" charset="0"/>
                <a:ea typeface="Cambria" panose="02040503050406030204" pitchFamily="18" charset="0"/>
                <a:cs typeface="+mj-cs"/>
              </a:rPr>
              <a:t>Conclusions</a:t>
            </a:r>
            <a:endParaRPr lang="en-US" sz="2000" b="1" dirty="0">
              <a:effectLst/>
              <a:latin typeface="Gill Sans Nova" panose="020B0602020104020203" pitchFamily="34" charset="0"/>
              <a:ea typeface="Cambria" panose="02040503050406030204" pitchFamily="18" charset="0"/>
              <a:cs typeface="+mj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DEEC617-E5F1-D9EA-2D32-C8C660F66D55}"/>
              </a:ext>
            </a:extLst>
          </p:cNvPr>
          <p:cNvSpPr txBox="1"/>
          <p:nvPr/>
        </p:nvSpPr>
        <p:spPr>
          <a:xfrm>
            <a:off x="448056" y="960120"/>
            <a:ext cx="10899647" cy="46228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GB" dirty="0"/>
              <a:t>For now, we can still focus on one of the free options, but as progress will be made with LLMs, it may become difficult to ignore the price</a:t>
            </a:r>
          </a:p>
          <a:p>
            <a:pPr>
              <a:lnSpc>
                <a:spcPct val="150000"/>
              </a:lnSpc>
            </a:pPr>
            <a:endParaRPr lang="en-GB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GB" dirty="0"/>
              <a:t>But some LLMs are made with the idea to be more open access and more transparent (like Mistral for example)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GB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GB" dirty="0"/>
              <a:t>I think we can aim to set up a “hybrid” LLM practice, where we use smaller models and targeted instructions 80% of the time, with a possible back-up from larger LLMs if necessary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GB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GB" dirty="0"/>
              <a:t>Most likely, as LLMs will become indispensable tools to productivity, they will become like a software that any workplace has to provide you with.</a:t>
            </a:r>
          </a:p>
        </p:txBody>
      </p:sp>
    </p:spTree>
    <p:extLst>
      <p:ext uri="{BB962C8B-B14F-4D97-AF65-F5344CB8AC3E}">
        <p14:creationId xmlns:p14="http://schemas.microsoft.com/office/powerpoint/2010/main" val="292627556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22F8B0C-BFCD-F570-BEE9-0DAC5BA6E00D}"/>
              </a:ext>
            </a:extLst>
          </p:cNvPr>
          <p:cNvSpPr txBox="1"/>
          <p:nvPr/>
        </p:nvSpPr>
        <p:spPr>
          <a:xfrm>
            <a:off x="-1" y="-4460"/>
            <a:ext cx="934402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latin typeface="Gill Sans Nova" panose="020B0602020104020203" pitchFamily="34" charset="0"/>
                <a:ea typeface="Cambria" panose="02040503050406030204" pitchFamily="18" charset="0"/>
                <a:cs typeface="+mj-cs"/>
              </a:rPr>
              <a:t>Your turn!</a:t>
            </a:r>
            <a:endParaRPr lang="en-US" sz="2000" b="1" dirty="0">
              <a:effectLst/>
              <a:latin typeface="Gill Sans Nova" panose="020B0602020104020203" pitchFamily="34" charset="0"/>
              <a:ea typeface="Cambria" panose="02040503050406030204" pitchFamily="18" charset="0"/>
              <a:cs typeface="+mj-cs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C4E2D505-C2EF-4330-2034-CCA005D40E18}"/>
              </a:ext>
            </a:extLst>
          </p:cNvPr>
          <p:cNvGrpSpPr/>
          <p:nvPr/>
        </p:nvGrpSpPr>
        <p:grpSpPr>
          <a:xfrm>
            <a:off x="1932121" y="1092308"/>
            <a:ext cx="8327758" cy="4673383"/>
            <a:chOff x="1932121" y="1092308"/>
            <a:chExt cx="8327758" cy="4673383"/>
          </a:xfrm>
        </p:grpSpPr>
        <p:pic>
          <p:nvPicPr>
            <p:cNvPr id="3074" name="Picture 2" descr="Mortal Kombat 2 - Character Select Music (Sega Mega Drive) - YouTube">
              <a:extLst>
                <a:ext uri="{FF2B5EF4-FFF2-40B4-BE49-F238E27FC236}">
                  <a16:creationId xmlns:a16="http://schemas.microsoft.com/office/drawing/2014/main" id="{079D7603-CE9D-D09C-0AC7-CF1AA1ABFC4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32121" y="1092308"/>
              <a:ext cx="8327758" cy="467338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100" name="Picture 4" descr="OpenAI, ChatGPT Logo Icon 22227364 PNG">
              <a:extLst>
                <a:ext uri="{FF2B5EF4-FFF2-40B4-BE49-F238E27FC236}">
                  <a16:creationId xmlns:a16="http://schemas.microsoft.com/office/drawing/2014/main" id="{0DE27C4D-AFB3-C859-EB09-111305358B9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ackgroundRemoval t="422" b="96414" l="2321" r="97046">
                          <a14:foregroundMark x1="39873" y1="17511" x2="26371" y2="29114"/>
                          <a14:foregroundMark x1="26371" y1="29114" x2="30591" y2="66034"/>
                          <a14:foregroundMark x1="30591" y1="66034" x2="74262" y2="74051"/>
                          <a14:foregroundMark x1="74262" y1="74051" x2="74473" y2="32700"/>
                          <a14:foregroundMark x1="74473" y1="32700" x2="47468" y2="9916"/>
                          <a14:foregroundMark x1="47468" y1="9916" x2="36287" y2="21730"/>
                          <a14:foregroundMark x1="52110" y1="7384" x2="36709" y2="9283"/>
                          <a14:foregroundMark x1="36709" y1="9283" x2="6118" y2="33966"/>
                          <a14:foregroundMark x1="6118" y1="33966" x2="4430" y2="68565"/>
                          <a14:foregroundMark x1="4430" y1="68565" x2="29958" y2="80802"/>
                          <a14:foregroundMark x1="29958" y1="80802" x2="55907" y2="83122"/>
                          <a14:foregroundMark x1="55907" y1="83122" x2="83755" y2="64768"/>
                          <a14:foregroundMark x1="83755" y1="64768" x2="68354" y2="23840"/>
                          <a14:foregroundMark x1="68354" y1="23840" x2="56751" y2="12447"/>
                          <a14:foregroundMark x1="52954" y1="2532" x2="63924" y2="4008"/>
                          <a14:foregroundMark x1="63924" y1="4008" x2="82489" y2="14557"/>
                          <a14:foregroundMark x1="82489" y1="14557" x2="96835" y2="48734"/>
                          <a14:foregroundMark x1="96835" y1="48734" x2="94093" y2="69831"/>
                          <a14:foregroundMark x1="94093" y1="69831" x2="79325" y2="87975"/>
                          <a14:foregroundMark x1="79325" y1="87975" x2="57173" y2="95781"/>
                          <a14:foregroundMark x1="57173" y1="95781" x2="33544" y2="95148"/>
                          <a14:foregroundMark x1="33544" y1="95148" x2="14346" y2="82489"/>
                          <a14:foregroundMark x1="14346" y1="82489" x2="4219" y2="59072"/>
                          <a14:foregroundMark x1="4219" y1="59072" x2="8228" y2="29325"/>
                          <a14:foregroundMark x1="8228" y1="29325" x2="25949" y2="9916"/>
                          <a14:foregroundMark x1="25949" y1="9916" x2="50000" y2="422"/>
                          <a14:foregroundMark x1="50000" y1="422" x2="60338" y2="1899"/>
                          <a14:foregroundMark x1="68143" y1="7384" x2="79114" y2="22996"/>
                          <a14:foregroundMark x1="79114" y1="22996" x2="80591" y2="56540"/>
                          <a14:foregroundMark x1="80591" y1="56540" x2="74262" y2="64135"/>
                          <a14:foregroundMark x1="82489" y1="35232" x2="86498" y2="48523"/>
                          <a14:foregroundMark x1="86498" y1="48523" x2="80169" y2="71730"/>
                          <a14:foregroundMark x1="80169" y1="71730" x2="77637" y2="74051"/>
                          <a14:foregroundMark x1="91983" y1="46414" x2="87553" y2="65401"/>
                          <a14:foregroundMark x1="87553" y1="65401" x2="63713" y2="92405"/>
                          <a14:foregroundMark x1="63713" y1="92405" x2="54641" y2="94515"/>
                          <a14:foregroundMark x1="87975" y1="75316" x2="63291" y2="90506"/>
                          <a14:foregroundMark x1="63291" y1="90506" x2="67932" y2="86709"/>
                          <a14:foregroundMark x1="61814" y1="42616" x2="67300" y2="54641"/>
                          <a14:foregroundMark x1="67300" y1="54641" x2="53797" y2="34599"/>
                          <a14:foregroundMark x1="53797" y1="34599" x2="59072" y2="50000"/>
                          <a14:foregroundMark x1="59072" y1="50000" x2="59072" y2="50000"/>
                          <a14:foregroundMark x1="54219" y1="31857" x2="37975" y2="34388"/>
                          <a14:foregroundMark x1="62236" y1="33544" x2="62236" y2="33544"/>
                          <a14:foregroundMark x1="50633" y1="49367" x2="50633" y2="49367"/>
                          <a14:foregroundMark x1="47257" y1="97257" x2="47257" y2="97257"/>
                          <a14:foregroundMark x1="47257" y1="97257" x2="47257" y2="97257"/>
                          <a14:foregroundMark x1="40295" y1="55907" x2="40295" y2="55907"/>
                          <a14:foregroundMark x1="95570" y1="47679" x2="95570" y2="47679"/>
                          <a14:foregroundMark x1="95781" y1="47679" x2="95781" y2="47679"/>
                          <a14:foregroundMark x1="64346" y1="35865" x2="64346" y2="35865"/>
                          <a14:foregroundMark x1="64768" y1="35443" x2="64768" y2="35443"/>
                          <a14:foregroundMark x1="64768" y1="35443" x2="64768" y2="35443"/>
                          <a14:foregroundMark x1="64768" y1="35443" x2="64768" y2="35443"/>
                          <a14:foregroundMark x1="66667" y1="37342" x2="64979" y2="37553"/>
                          <a14:foregroundMark x1="63080" y1="35654" x2="51899" y2="31646"/>
                          <a14:foregroundMark x1="51899" y1="31646" x2="58017" y2="29536"/>
                          <a14:foregroundMark x1="49156" y1="29747" x2="32489" y2="48945"/>
                          <a14:foregroundMark x1="32489" y1="48945" x2="36287" y2="59072"/>
                          <a14:foregroundMark x1="23840" y1="29747" x2="19620" y2="50000"/>
                          <a14:foregroundMark x1="19620" y1="50000" x2="43460" y2="75738"/>
                          <a14:foregroundMark x1="43460" y1="75738" x2="52321" y2="73207"/>
                          <a14:foregroundMark x1="18354" y1="33122" x2="10338" y2="49578"/>
                          <a14:foregroundMark x1="10338" y1="49578" x2="25527" y2="68987"/>
                          <a14:foregroundMark x1="25527" y1="68987" x2="29536" y2="69409"/>
                          <a14:foregroundMark x1="63291" y1="48312" x2="57806" y2="61392"/>
                          <a14:foregroundMark x1="57806" y1="61392" x2="73207" y2="50211"/>
                          <a14:foregroundMark x1="73207" y1="50211" x2="60127" y2="47890"/>
                          <a14:foregroundMark x1="60127" y1="47890" x2="59494" y2="52743"/>
                          <a14:foregroundMark x1="46203" y1="40295" x2="44726" y2="55063"/>
                          <a14:foregroundMark x1="44726" y1="55063" x2="55063" y2="40506"/>
                          <a14:foregroundMark x1="55063" y1="40506" x2="45992" y2="40928"/>
                          <a14:foregroundMark x1="97257" y1="45148" x2="97257" y2="64135"/>
                          <a14:foregroundMark x1="65401" y1="26371" x2="42194" y2="21308"/>
                          <a14:foregroundMark x1="42194" y1="21308" x2="21519" y2="60549"/>
                          <a14:foregroundMark x1="21519" y1="60549" x2="70042" y2="87553"/>
                          <a14:foregroundMark x1="70042" y1="87553" x2="80591" y2="43882"/>
                          <a14:foregroundMark x1="80591" y1="43882" x2="35021" y2="12025"/>
                          <a14:foregroundMark x1="35021" y1="12025" x2="20253" y2="25949"/>
                          <a14:foregroundMark x1="51688" y1="35232" x2="39451" y2="45359"/>
                          <a14:foregroundMark x1="39451" y1="45359" x2="48523" y2="62658"/>
                          <a14:foregroundMark x1="48523" y1="62658" x2="55696" y2="50000"/>
                          <a14:foregroundMark x1="58228" y1="45359" x2="51688" y2="60759"/>
                          <a14:foregroundMark x1="51688" y1="60759" x2="65823" y2="65823"/>
                          <a14:foregroundMark x1="65823" y1="65823" x2="66667" y2="59916"/>
                          <a14:foregroundMark x1="28692" y1="31857" x2="23629" y2="48945"/>
                          <a14:foregroundMark x1="23629" y1="48945" x2="40928" y2="57173"/>
                          <a14:foregroundMark x1="40928" y1="57173" x2="42194" y2="55063"/>
                          <a14:foregroundMark x1="8017" y1="34810" x2="1899" y2="47679"/>
                          <a14:foregroundMark x1="1899" y1="47679" x2="2321" y2="61181"/>
                          <a14:foregroundMark x1="2321" y1="61181" x2="4219" y2="64557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47519" y="3192399"/>
              <a:ext cx="876681" cy="87668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18912029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621</Words>
  <Application>Microsoft Office PowerPoint</Application>
  <PresentationFormat>Widescreen</PresentationFormat>
  <Paragraphs>77</Paragraphs>
  <Slides>19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30" baseType="lpstr">
      <vt:lpstr>Aptos</vt:lpstr>
      <vt:lpstr>Aptos Display</vt:lpstr>
      <vt:lpstr>Arial</vt:lpstr>
      <vt:lpstr>Georgia Pro Semibold</vt:lpstr>
      <vt:lpstr>Gill Sans Nova</vt:lpstr>
      <vt:lpstr>Grandview</vt:lpstr>
      <vt:lpstr>Grandview Display</vt:lpstr>
      <vt:lpstr>Kristen ITC</vt:lpstr>
      <vt:lpstr>Modern Love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Daniel, Caroline Marianne Véronique (IEE)</dc:creator>
  <cp:lastModifiedBy>Daniel, Caroline Marianne Véronique (IEE)</cp:lastModifiedBy>
  <cp:revision>6</cp:revision>
  <dcterms:created xsi:type="dcterms:W3CDTF">2026-03-11T14:07:35Z</dcterms:created>
  <dcterms:modified xsi:type="dcterms:W3CDTF">2026-03-16T10:10:54Z</dcterms:modified>
</cp:coreProperties>
</file>